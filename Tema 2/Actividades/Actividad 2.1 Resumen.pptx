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195D9-049A-928E-968F-801D31EB8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548" y="3739367"/>
            <a:ext cx="7470058" cy="684683"/>
          </a:xfrm>
        </p:spPr>
        <p:txBody>
          <a:bodyPr>
            <a:noAutofit/>
          </a:bodyPr>
          <a:lstStyle/>
          <a:p>
            <a:r>
              <a:rPr lang="es-MX" sz="1800" b="1" dirty="0"/>
              <a:t>INSTITUTO TECNOLÓGICO DE FRONTERA COMALAPA  </a:t>
            </a:r>
            <a:br>
              <a:rPr lang="es-MX" sz="1800" b="1" dirty="0"/>
            </a:br>
            <a:r>
              <a:rPr lang="es-MX" sz="1800" b="1" dirty="0"/>
              <a:t> </a:t>
            </a:r>
            <a:r>
              <a:rPr lang="es-MX" sz="1800" b="1" baseline="-25000" dirty="0"/>
              <a:t>  </a:t>
            </a:r>
            <a:r>
              <a:rPr lang="es-MX" sz="1800" b="1" dirty="0"/>
              <a:t> </a:t>
            </a:r>
            <a:br>
              <a:rPr lang="es-MX" dirty="0"/>
            </a:br>
            <a:r>
              <a:rPr lang="es-MX" sz="1350" b="1" dirty="0"/>
              <a:t>MATERIA</a:t>
            </a:r>
            <a:br>
              <a:rPr lang="es-MX" sz="1350" b="1" dirty="0"/>
            </a:br>
            <a:r>
              <a:rPr lang="es-MX" sz="1350" b="1" dirty="0"/>
              <a:t>Investigación de Operaciones</a:t>
            </a:r>
            <a:br>
              <a:rPr lang="es-MX" sz="1350" b="1" dirty="0"/>
            </a:br>
            <a:br>
              <a:rPr lang="es-MX" sz="1350" b="1" dirty="0"/>
            </a:br>
            <a:r>
              <a:rPr lang="es-MX" sz="1350" b="1" dirty="0"/>
              <a:t>TEMA 2</a:t>
            </a:r>
            <a:br>
              <a:rPr lang="es-MX" sz="1350" b="1" dirty="0"/>
            </a:br>
            <a:r>
              <a:rPr lang="es-MX" sz="1350" b="1" dirty="0" err="1"/>
              <a:t>Act</a:t>
            </a:r>
            <a:r>
              <a:rPr lang="es-MX" sz="1350" b="1" dirty="0"/>
              <a:t> 2.1 Resumen</a:t>
            </a:r>
            <a:br>
              <a:rPr lang="es-MX" sz="1350" b="1" dirty="0"/>
            </a:br>
            <a:br>
              <a:rPr lang="es-MX" sz="1350" b="1" dirty="0"/>
            </a:br>
            <a:r>
              <a:rPr lang="es-MX" sz="1350" b="1" dirty="0"/>
              <a:t>ALUMNO</a:t>
            </a:r>
            <a:br>
              <a:rPr lang="es-MX" sz="1350" b="1" dirty="0"/>
            </a:br>
            <a:r>
              <a:rPr lang="es-MX" sz="1350" b="1" dirty="0"/>
              <a:t>Escobar Morales Jose Eduardo</a:t>
            </a:r>
            <a:br>
              <a:rPr lang="es-MX" sz="1350" b="1" dirty="0"/>
            </a:br>
            <a:br>
              <a:rPr lang="es-MX" sz="1350" b="1" dirty="0"/>
            </a:br>
            <a:r>
              <a:rPr lang="es-MX" sz="1350" b="1" dirty="0"/>
              <a:t>Tercer semestre, ing. Sistemas Computacionales.</a:t>
            </a:r>
            <a:br>
              <a:rPr lang="es-MX" sz="1350" b="1" dirty="0"/>
            </a:br>
            <a:br>
              <a:rPr lang="es-MX" sz="1350" b="1" dirty="0"/>
            </a:br>
            <a:br>
              <a:rPr lang="es-MX" sz="1350" b="1" dirty="0"/>
            </a:br>
            <a:r>
              <a:rPr lang="es-MX" sz="1350" b="1" dirty="0"/>
              <a:t>MODALIDAD</a:t>
            </a:r>
            <a:br>
              <a:rPr lang="es-MX" sz="1350" b="1" dirty="0"/>
            </a:br>
            <a:r>
              <a:rPr lang="es-MX" sz="1350" b="1" dirty="0"/>
              <a:t>Escolarizada </a:t>
            </a:r>
            <a:br>
              <a:rPr lang="es-MX" sz="1350" b="1" dirty="0"/>
            </a:br>
            <a:br>
              <a:rPr lang="es-MX" sz="1350" b="1" dirty="0"/>
            </a:br>
            <a:r>
              <a:rPr lang="es-MX" sz="1350" b="1" dirty="0"/>
              <a:t>DOCENTE</a:t>
            </a:r>
            <a:br>
              <a:rPr lang="es-MX" sz="1350" b="1" dirty="0"/>
            </a:br>
            <a:r>
              <a:rPr lang="es-MX" sz="1350" b="1" dirty="0"/>
              <a:t>Ing. Mingo Velázquez Francisco Javier.</a:t>
            </a:r>
            <a:br>
              <a:rPr lang="es-MX" sz="1350" b="1" dirty="0"/>
            </a:br>
            <a:br>
              <a:rPr lang="es-MX" sz="1350" b="1" dirty="0"/>
            </a:br>
            <a:r>
              <a:rPr lang="es-MX" sz="1350" b="1" dirty="0"/>
              <a:t>                                                                                                 </a:t>
            </a:r>
            <a:br>
              <a:rPr lang="es-MX" sz="1350" b="1" dirty="0"/>
            </a:br>
            <a:r>
              <a:rPr lang="es-MX" sz="1350" b="1" dirty="0"/>
              <a:t>                                                                                              Frontera Comalapa Chis, a 19 de </a:t>
            </a:r>
            <a:r>
              <a:rPr lang="es-MX" sz="1350" b="1" dirty="0" err="1"/>
              <a:t>Sepiembre</a:t>
            </a:r>
            <a:r>
              <a:rPr lang="es-MX" sz="1350" b="1" dirty="0"/>
              <a:t> de 2025</a:t>
            </a:r>
            <a:endParaRPr lang="es-MX" sz="1350" dirty="0"/>
          </a:p>
        </p:txBody>
      </p:sp>
      <p:pic>
        <p:nvPicPr>
          <p:cNvPr id="2055" name="Picture 167">
            <a:extLst>
              <a:ext uri="{FF2B5EF4-FFF2-40B4-BE49-F238E27FC236}">
                <a16:creationId xmlns:a16="http://schemas.microsoft.com/office/drawing/2014/main" id="{D6FF51D3-F4AF-3B2B-0563-E61C18255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632" y="1029891"/>
            <a:ext cx="2051447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15190">
            <a:extLst>
              <a:ext uri="{FF2B5EF4-FFF2-40B4-BE49-F238E27FC236}">
                <a16:creationId xmlns:a16="http://schemas.microsoft.com/office/drawing/2014/main" id="{134EB0F0-5358-01C5-8F9A-635F4EC493A9}"/>
              </a:ext>
            </a:extLst>
          </p:cNvPr>
          <p:cNvGrpSpPr/>
          <p:nvPr/>
        </p:nvGrpSpPr>
        <p:grpSpPr>
          <a:xfrm>
            <a:off x="2559664" y="981981"/>
            <a:ext cx="5319713" cy="819435"/>
            <a:chOff x="1082675" y="-360640"/>
            <a:chExt cx="7093177" cy="1093536"/>
          </a:xfrm>
        </p:grpSpPr>
        <p:pic>
          <p:nvPicPr>
            <p:cNvPr id="5" name="Picture 169">
              <a:extLst>
                <a:ext uri="{FF2B5EF4-FFF2-40B4-BE49-F238E27FC236}">
                  <a16:creationId xmlns:a16="http://schemas.microsoft.com/office/drawing/2014/main" id="{40EFF497-CB2D-56F1-4E69-06C1A53668B8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082675" y="507340"/>
              <a:ext cx="228600" cy="190500"/>
            </a:xfrm>
            <a:prstGeom prst="rect">
              <a:avLst/>
            </a:prstGeom>
          </p:spPr>
        </p:pic>
        <p:sp>
          <p:nvSpPr>
            <p:cNvPr id="6" name="Rectangle 170">
              <a:extLst>
                <a:ext uri="{FF2B5EF4-FFF2-40B4-BE49-F238E27FC236}">
                  <a16:creationId xmlns:a16="http://schemas.microsoft.com/office/drawing/2014/main" id="{0D318CAD-7D9D-4D2F-DBD7-ED078BD7DD15}"/>
                </a:ext>
              </a:extLst>
            </p:cNvPr>
            <p:cNvSpPr/>
            <p:nvPr/>
          </p:nvSpPr>
          <p:spPr>
            <a:xfrm>
              <a:off x="1084580" y="506088"/>
              <a:ext cx="149198" cy="22680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s-MX" sz="825" kern="100" spc="-23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    </a:t>
              </a:r>
              <a:endParaRPr lang="es-MX" sz="825" kern="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" name="Rectangle 171">
              <a:extLst>
                <a:ext uri="{FF2B5EF4-FFF2-40B4-BE49-F238E27FC236}">
                  <a16:creationId xmlns:a16="http://schemas.microsoft.com/office/drawing/2014/main" id="{94F31476-3268-DD9D-0444-BF52BC199278}"/>
                </a:ext>
              </a:extLst>
            </p:cNvPr>
            <p:cNvSpPr/>
            <p:nvPr/>
          </p:nvSpPr>
          <p:spPr>
            <a:xfrm>
              <a:off x="1198880" y="506088"/>
              <a:ext cx="37718" cy="22680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s-MX" sz="825" kern="10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</a:p>
          </p:txBody>
        </p:sp>
        <p:pic>
          <p:nvPicPr>
            <p:cNvPr id="8" name="Picture 173">
              <a:extLst>
                <a:ext uri="{FF2B5EF4-FFF2-40B4-BE49-F238E27FC236}">
                  <a16:creationId xmlns:a16="http://schemas.microsoft.com/office/drawing/2014/main" id="{6E8F8E14-6B09-F0C2-7340-1869B043F01D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513167" y="-360640"/>
              <a:ext cx="1082396" cy="531927"/>
            </a:xfrm>
            <a:prstGeom prst="rect">
              <a:avLst/>
            </a:prstGeom>
          </p:spPr>
        </p:pic>
        <p:pic>
          <p:nvPicPr>
            <p:cNvPr id="9" name="Picture 175">
              <a:extLst>
                <a:ext uri="{FF2B5EF4-FFF2-40B4-BE49-F238E27FC236}">
                  <a16:creationId xmlns:a16="http://schemas.microsoft.com/office/drawing/2014/main" id="{E8CEA6AF-61C3-6EB1-6C5A-74D88AABD4A8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7418487" y="-352155"/>
              <a:ext cx="757365" cy="617576"/>
            </a:xfrm>
            <a:prstGeom prst="rect">
              <a:avLst/>
            </a:prstGeom>
          </p:spPr>
        </p:pic>
      </p:grpSp>
      <p:sp>
        <p:nvSpPr>
          <p:cNvPr id="10" name="Rectangle 8">
            <a:extLst>
              <a:ext uri="{FF2B5EF4-FFF2-40B4-BE49-F238E27FC236}">
                <a16:creationId xmlns:a16="http://schemas.microsoft.com/office/drawing/2014/main" id="{3A6BD107-5606-12E8-C337-06AC4CC95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175" y="1491467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135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76A270C-884E-17BC-7E9A-427D95BD2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175" y="2131938"/>
            <a:ext cx="830997" cy="196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sz="825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 	</a:t>
            </a:r>
            <a:endParaRPr lang="es-MX" altLang="es-MX" sz="1350" dirty="0">
              <a:latin typeface="Arial" panose="020B0604020202020204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1AA0FDCA-B92A-6FAD-6856-90CD8D874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174" y="2592334"/>
            <a:ext cx="34047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8245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tabLst>
                <a:tab pos="4368404" algn="r"/>
              </a:tabLst>
            </a:pPr>
            <a:endParaRPr lang="es-MX" altLang="es-MX" sz="825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defTabSz="685800">
              <a:tabLst>
                <a:tab pos="4368404" algn="r"/>
              </a:tabLst>
            </a:pPr>
            <a:r>
              <a:rPr lang="es-MX" altLang="es-MX" sz="825">
                <a:solidFill>
                  <a:srgbClr val="000000"/>
                </a:solidFill>
                <a:ea typeface="Calibri" panose="020F0502020204030204" pitchFamily="34" charset="0"/>
              </a:rPr>
              <a:t>  </a:t>
            </a:r>
            <a:r>
              <a:rPr lang="es-MX" altLang="es-MX" sz="825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    </a:t>
            </a:r>
            <a:r>
              <a:rPr lang="es-MX" altLang="es-MX" sz="825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endParaRPr lang="es-MX" altLang="es-MX" sz="1350"/>
          </a:p>
        </p:txBody>
      </p:sp>
    </p:spTree>
    <p:extLst>
      <p:ext uri="{BB962C8B-B14F-4D97-AF65-F5344CB8AC3E}">
        <p14:creationId xmlns:p14="http://schemas.microsoft.com/office/powerpoint/2010/main" val="137702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análisis de redes modela y resuelve problemas de optimización relacionados con la interconexión de elementos. Utiliza grafos para representar nodos y aristas, con aplicaciones en transporte, planificación y gestión de proyectos.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estudio de los problemas de redes permite tomar decisiones eficientes en situaciones reales. Ayuda a reducir costos, optimizar recursos, planificar rutas y ejecutar proyectos dentro de plazos y presupuestos adecuados.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Conceptos Básicos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análisis de redes se basa en la teoría de grafos, donde los nodos representan elementos y las aristas las conexiones. El objetivo es optimizar parámetros como costo, tiempo o flujo de recursos.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de Transporte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Busca distribuir productos desde varios orígenes a varios destinos al menor costo posible, respetando la oferta y demanda. Métodos: esquina noroeste, mínima diferencia y potenciales.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de Asignación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 en asignar recursos limitados a tareas minimizando costos o maximizando beneficios. El método húngaro es el más usado. Aplicaciones: asignación de personal, tareas, maquinaria,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de la Ruta Más Corta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Determina el camino más corto o económico entre dos nodos en una red. Algoritmos principales: Dijkstra y Bellman-Ford. Aplicaciones en transporte y telecomunicaciones.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Programación de Proyectos (PERT-CPM)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planificar y coordinar actividades para cumplir con plazos y costos. PERT y CPM ayudan a identificar el camino crítico y las dependencias entre tareas.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análisis de redes permite optimizar costos, tiempos y recursos en diversos contextos. Dominar estas técnicas mejora la eficiencia operativa y estratégica en organizaciones y proyectos.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Fuentes de </a:t>
            </a:r>
            <a:r>
              <a:rPr dirty="0" err="1"/>
              <a:t>Información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541" y="1590368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Taha, H. A. (2017). </a:t>
            </a:r>
            <a:r>
              <a:rPr dirty="0" err="1"/>
              <a:t>Operaciones</a:t>
            </a:r>
            <a:r>
              <a:rPr dirty="0"/>
              <a:t> de </a:t>
            </a:r>
            <a:r>
              <a:rPr dirty="0" err="1"/>
              <a:t>Investigación</a:t>
            </a:r>
            <a:r>
              <a:rPr dirty="0"/>
              <a:t>: Una </a:t>
            </a:r>
            <a:r>
              <a:rPr dirty="0" err="1"/>
              <a:t>Introducción</a:t>
            </a:r>
            <a:r>
              <a:rPr dirty="0"/>
              <a:t>. Pearson.</a:t>
            </a:r>
          </a:p>
          <a:p>
            <a:r>
              <a:rPr dirty="0"/>
              <a:t>Hillier, F. S., &amp; Lieberman, G. J. (2015). </a:t>
            </a:r>
            <a:r>
              <a:rPr dirty="0" err="1"/>
              <a:t>Introducción</a:t>
            </a:r>
            <a:r>
              <a:rPr dirty="0"/>
              <a:t> a la </a:t>
            </a:r>
            <a:r>
              <a:rPr dirty="0" err="1"/>
              <a:t>Investigación</a:t>
            </a:r>
            <a:r>
              <a:rPr dirty="0"/>
              <a:t> de </a:t>
            </a:r>
            <a:r>
              <a:rPr dirty="0" err="1"/>
              <a:t>Operaciones</a:t>
            </a:r>
            <a:r>
              <a:rPr dirty="0"/>
              <a:t>. McGraw-Hill.</a:t>
            </a:r>
          </a:p>
          <a:p>
            <a:r>
              <a:rPr dirty="0"/>
              <a:t>Winston, W. L. (2004). </a:t>
            </a:r>
            <a:r>
              <a:rPr dirty="0" err="1"/>
              <a:t>Investigación</a:t>
            </a:r>
            <a:r>
              <a:rPr dirty="0"/>
              <a:t> de </a:t>
            </a:r>
            <a:r>
              <a:rPr dirty="0" err="1"/>
              <a:t>Operaciones</a:t>
            </a:r>
            <a:r>
              <a:rPr dirty="0"/>
              <a:t>. Cengage Learning.</a:t>
            </a:r>
          </a:p>
          <a:p>
            <a:r>
              <a:rPr dirty="0"/>
              <a:t>Browne, M. W. (2016). </a:t>
            </a:r>
            <a:r>
              <a:rPr dirty="0" err="1"/>
              <a:t>Teoría</a:t>
            </a:r>
            <a:r>
              <a:rPr dirty="0"/>
              <a:t> de </a:t>
            </a:r>
            <a:r>
              <a:rPr dirty="0" err="1"/>
              <a:t>Grafos</a:t>
            </a:r>
            <a:r>
              <a:rPr dirty="0"/>
              <a:t> y Redes de </a:t>
            </a:r>
            <a:r>
              <a:rPr dirty="0" err="1"/>
              <a:t>Optimización</a:t>
            </a:r>
            <a:r>
              <a:rPr dirty="0"/>
              <a:t>. Prentice Hall.</a:t>
            </a:r>
          </a:p>
          <a:p>
            <a:r>
              <a:rPr dirty="0"/>
              <a:t>Leachman, R. C., &amp; Arntzen, B. C. (2018). </a:t>
            </a:r>
            <a:r>
              <a:rPr dirty="0" err="1"/>
              <a:t>Modelos</a:t>
            </a:r>
            <a:r>
              <a:rPr dirty="0"/>
              <a:t> de </a:t>
            </a:r>
            <a:r>
              <a:rPr dirty="0" err="1"/>
              <a:t>Optimización</a:t>
            </a:r>
            <a:r>
              <a:rPr dirty="0"/>
              <a:t> para la </a:t>
            </a:r>
            <a:r>
              <a:rPr dirty="0" err="1"/>
              <a:t>Logística</a:t>
            </a:r>
            <a:r>
              <a:rPr dirty="0"/>
              <a:t> y la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Proyectos</a:t>
            </a:r>
            <a:r>
              <a:rPr dirty="0"/>
              <a:t>. McGraw-Hill.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465</Words>
  <Application>Microsoft Office PowerPoint</Application>
  <PresentationFormat>Presentación en pantalla (4:3)</PresentationFormat>
  <Paragraphs>28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INSTITUTO TECNOLÓGICO DE FRONTERA COMALAPA        MATERIA Investigación de Operaciones  TEMA 2 Act 2.1 Resumen  ALUMNO Escobar Morales Jose Eduardo  Tercer semestre, ing. Sistemas Computacionales.   MODALIDAD Escolarizada   DOCENTE Ing. Mingo Velázquez Francisco Javier.                                                                                                                                                                                                  Frontera Comalapa Chis, a 19 de Sepiembre de 2025</vt:lpstr>
      <vt:lpstr>Introducción</vt:lpstr>
      <vt:lpstr>Justificación</vt:lpstr>
      <vt:lpstr>Conceptos Básicos</vt:lpstr>
      <vt:lpstr>Problema de Transporte</vt:lpstr>
      <vt:lpstr>Problema de Asignación</vt:lpstr>
      <vt:lpstr>Problema de la Ruta Más Corta</vt:lpstr>
      <vt:lpstr>Programación de Proyectos (PERT-CPM)</vt:lpstr>
      <vt:lpstr>Conclusión</vt:lpstr>
      <vt:lpstr>Fuentes de Información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EDWARD</dc:creator>
  <cp:keywords/>
  <dc:description>generated using python-pptx</dc:description>
  <cp:lastModifiedBy>jose eduardo escobar morales</cp:lastModifiedBy>
  <cp:revision>2</cp:revision>
  <dcterms:created xsi:type="dcterms:W3CDTF">2013-01-27T09:14:16Z</dcterms:created>
  <dcterms:modified xsi:type="dcterms:W3CDTF">2025-10-18T18:20:06Z</dcterms:modified>
  <cp:category/>
</cp:coreProperties>
</file>