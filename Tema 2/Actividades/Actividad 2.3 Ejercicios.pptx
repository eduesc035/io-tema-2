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2" d="100"/>
          <a:sy n="102" d="100"/>
        </p:scale>
        <p:origin x="1339" y="-230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467885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467885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467885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467885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68120" y="1665478"/>
            <a:ext cx="4622800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467885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9.jpg"/><Relationship Id="rId4" Type="http://schemas.openxmlformats.org/officeDocument/2006/relationships/image" Target="../media/image28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3.jpg"/><Relationship Id="rId4" Type="http://schemas.openxmlformats.org/officeDocument/2006/relationships/image" Target="../media/image32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7.jpg"/><Relationship Id="rId4" Type="http://schemas.openxmlformats.org/officeDocument/2006/relationships/image" Target="../media/image36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1.jpg"/><Relationship Id="rId4" Type="http://schemas.openxmlformats.org/officeDocument/2006/relationships/image" Target="../media/image40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eduesc035/IO-TEMA-2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13077" y="2174494"/>
            <a:ext cx="472249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INSTITUTO</a:t>
            </a:r>
            <a:r>
              <a:rPr sz="1400" b="1" spc="-3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TECNOLÓGICO</a:t>
            </a:r>
            <a:r>
              <a:rPr sz="1400" b="1" spc="-4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DE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FRONTERA</a:t>
            </a:r>
            <a:r>
              <a:rPr sz="1400" b="1" spc="-8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COMALAPA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78710" y="2875152"/>
            <a:ext cx="2968625" cy="460057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R="401320" algn="ctr">
              <a:lnSpc>
                <a:spcPct val="100000"/>
              </a:lnSpc>
              <a:spcBef>
                <a:spcPts val="680"/>
              </a:spcBef>
            </a:pPr>
            <a:r>
              <a:rPr sz="1200" b="1" spc="-10" dirty="0">
                <a:latin typeface="Arial"/>
                <a:cs typeface="Arial"/>
              </a:rPr>
              <a:t>MATERIA</a:t>
            </a:r>
            <a:endParaRPr sz="1200">
              <a:latin typeface="Arial"/>
              <a:cs typeface="Arial"/>
            </a:endParaRPr>
          </a:p>
          <a:p>
            <a:pPr marL="198755">
              <a:lnSpc>
                <a:spcPct val="100000"/>
              </a:lnSpc>
              <a:spcBef>
                <a:spcPts val="575"/>
              </a:spcBef>
            </a:pPr>
            <a:r>
              <a:rPr sz="1200" b="1" dirty="0">
                <a:latin typeface="Arial"/>
                <a:cs typeface="Arial"/>
              </a:rPr>
              <a:t>Inestigacion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de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Operaciones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35"/>
              </a:spcBef>
            </a:pPr>
            <a:endParaRPr sz="1200">
              <a:latin typeface="Arial"/>
              <a:cs typeface="Arial"/>
            </a:endParaRPr>
          </a:p>
          <a:p>
            <a:pPr marR="405130" algn="ctr">
              <a:lnSpc>
                <a:spcPct val="100000"/>
              </a:lnSpc>
            </a:pPr>
            <a:r>
              <a:rPr sz="1200" b="1" spc="-10" dirty="0">
                <a:latin typeface="Arial"/>
                <a:cs typeface="Arial"/>
              </a:rPr>
              <a:t>TEMA</a:t>
            </a:r>
            <a:r>
              <a:rPr sz="1200" b="1" spc="-50" dirty="0">
                <a:latin typeface="Arial"/>
                <a:cs typeface="Arial"/>
              </a:rPr>
              <a:t> 2</a:t>
            </a:r>
            <a:endParaRPr sz="1200">
              <a:latin typeface="Arial"/>
              <a:cs typeface="Arial"/>
            </a:endParaRPr>
          </a:p>
          <a:p>
            <a:pPr marL="44450" algn="ctr">
              <a:lnSpc>
                <a:spcPct val="100000"/>
              </a:lnSpc>
              <a:spcBef>
                <a:spcPts val="575"/>
              </a:spcBef>
            </a:pPr>
            <a:r>
              <a:rPr sz="1200" b="1" dirty="0">
                <a:latin typeface="Arial"/>
                <a:cs typeface="Arial"/>
              </a:rPr>
              <a:t>ACTIVIDAD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2.3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EJERCICIOS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Arial"/>
              <a:cs typeface="Arial"/>
            </a:endParaRPr>
          </a:p>
          <a:p>
            <a:pPr marR="415925" algn="ctr">
              <a:lnSpc>
                <a:spcPct val="100000"/>
              </a:lnSpc>
            </a:pPr>
            <a:r>
              <a:rPr sz="1200" b="1" spc="-10" dirty="0">
                <a:latin typeface="Arial"/>
                <a:cs typeface="Arial"/>
              </a:rPr>
              <a:t>ESTUDIANTE</a:t>
            </a:r>
            <a:endParaRPr sz="1200">
              <a:latin typeface="Arial"/>
              <a:cs typeface="Arial"/>
            </a:endParaRPr>
          </a:p>
          <a:p>
            <a:pPr marL="45720" algn="ctr">
              <a:lnSpc>
                <a:spcPct val="100000"/>
              </a:lnSpc>
              <a:spcBef>
                <a:spcPts val="575"/>
              </a:spcBef>
            </a:pPr>
            <a:r>
              <a:rPr sz="1200" b="1" spc="-85" dirty="0">
                <a:latin typeface="Tahoma"/>
                <a:cs typeface="Tahoma"/>
              </a:rPr>
              <a:t>JOSE</a:t>
            </a:r>
            <a:r>
              <a:rPr sz="1200" b="1" spc="-70" dirty="0">
                <a:latin typeface="Tahoma"/>
                <a:cs typeface="Tahoma"/>
              </a:rPr>
              <a:t> </a:t>
            </a:r>
            <a:r>
              <a:rPr sz="1200" b="1" spc="-85" dirty="0">
                <a:latin typeface="Tahoma"/>
                <a:cs typeface="Tahoma"/>
              </a:rPr>
              <a:t>EDUARDO</a:t>
            </a:r>
            <a:r>
              <a:rPr sz="1200" b="1" spc="-55" dirty="0">
                <a:latin typeface="Tahoma"/>
                <a:cs typeface="Tahoma"/>
              </a:rPr>
              <a:t> </a:t>
            </a:r>
            <a:r>
              <a:rPr sz="1200" b="1" spc="-90" dirty="0">
                <a:latin typeface="Tahoma"/>
                <a:cs typeface="Tahoma"/>
              </a:rPr>
              <a:t>MORALES</a:t>
            </a:r>
            <a:r>
              <a:rPr sz="1200" b="1" spc="-60" dirty="0">
                <a:latin typeface="Tahoma"/>
                <a:cs typeface="Tahoma"/>
              </a:rPr>
              <a:t> </a:t>
            </a:r>
            <a:r>
              <a:rPr sz="1200" b="1" spc="-10" dirty="0">
                <a:latin typeface="Tahoma"/>
                <a:cs typeface="Tahoma"/>
              </a:rPr>
              <a:t>ESCOBAR</a:t>
            </a:r>
            <a:endParaRPr sz="12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80"/>
              </a:spcBef>
            </a:pPr>
            <a:endParaRPr sz="1200">
              <a:latin typeface="Tahoma"/>
              <a:cs typeface="Tahoma"/>
            </a:endParaRPr>
          </a:p>
          <a:p>
            <a:pPr marL="12700" marR="5080" algn="ctr">
              <a:lnSpc>
                <a:spcPct val="145000"/>
              </a:lnSpc>
            </a:pPr>
            <a:r>
              <a:rPr sz="1200" b="1" dirty="0">
                <a:latin typeface="Arial"/>
                <a:cs typeface="Arial"/>
              </a:rPr>
              <a:t>TERCER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SEMESTRE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DE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INGENIERIA</a:t>
            </a:r>
            <a:r>
              <a:rPr sz="1200" b="1" spc="-60" dirty="0">
                <a:latin typeface="Arial"/>
                <a:cs typeface="Arial"/>
              </a:rPr>
              <a:t> </a:t>
            </a:r>
            <a:r>
              <a:rPr sz="1200" b="1" spc="-25" dirty="0">
                <a:latin typeface="Arial"/>
                <a:cs typeface="Arial"/>
              </a:rPr>
              <a:t>EN </a:t>
            </a:r>
            <a:r>
              <a:rPr sz="1200" b="1" dirty="0">
                <a:latin typeface="Arial"/>
                <a:cs typeface="Arial"/>
              </a:rPr>
              <a:t>SISTEMAS</a:t>
            </a:r>
            <a:r>
              <a:rPr sz="1200" b="1" spc="-7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COMPUTACIONALES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200">
              <a:latin typeface="Arial"/>
              <a:cs typeface="Arial"/>
            </a:endParaRPr>
          </a:p>
          <a:p>
            <a:pPr marR="415925" algn="ctr">
              <a:lnSpc>
                <a:spcPct val="100000"/>
              </a:lnSpc>
            </a:pPr>
            <a:r>
              <a:rPr sz="1200" b="1" spc="-10" dirty="0">
                <a:latin typeface="Arial"/>
                <a:cs typeface="Arial"/>
              </a:rPr>
              <a:t>MODALIDAD</a:t>
            </a:r>
            <a:endParaRPr sz="1200">
              <a:latin typeface="Arial"/>
              <a:cs typeface="Arial"/>
            </a:endParaRPr>
          </a:p>
          <a:p>
            <a:pPr marR="375285" algn="ctr">
              <a:lnSpc>
                <a:spcPct val="100000"/>
              </a:lnSpc>
              <a:spcBef>
                <a:spcPts val="575"/>
              </a:spcBef>
            </a:pPr>
            <a:r>
              <a:rPr sz="1200" b="1" spc="-10" dirty="0">
                <a:latin typeface="Arial"/>
                <a:cs typeface="Arial"/>
              </a:rPr>
              <a:t>Escolarizada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15"/>
              </a:spcBef>
            </a:pPr>
            <a:endParaRPr sz="1200">
              <a:latin typeface="Arial"/>
              <a:cs typeface="Arial"/>
            </a:endParaRPr>
          </a:p>
          <a:p>
            <a:pPr marL="48895" algn="ctr">
              <a:lnSpc>
                <a:spcPct val="100000"/>
              </a:lnSpc>
            </a:pPr>
            <a:r>
              <a:rPr sz="1400" b="1" spc="-10" dirty="0">
                <a:latin typeface="Tahoma"/>
                <a:cs typeface="Tahoma"/>
              </a:rPr>
              <a:t>DOCENTE</a:t>
            </a:r>
            <a:endParaRPr sz="14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830"/>
              </a:spcBef>
            </a:pPr>
            <a:r>
              <a:rPr sz="1200" b="1" dirty="0">
                <a:latin typeface="Arial"/>
                <a:cs typeface="Arial"/>
              </a:rPr>
              <a:t>Ing.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Mingo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Velázquez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Francisco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Javier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05810" y="8341614"/>
            <a:ext cx="389762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Frontera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Comalapa,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Chiapas,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</a:t>
            </a:r>
            <a:r>
              <a:rPr sz="1200" b="1" spc="-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10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de</a:t>
            </a:r>
            <a:r>
              <a:rPr sz="1200" b="1" spc="-2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octubre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de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spc="-20" dirty="0">
                <a:latin typeface="Arial"/>
                <a:cs typeface="Arial"/>
              </a:rPr>
              <a:t>2025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0135" y="949960"/>
            <a:ext cx="2741549" cy="56832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58635" y="989548"/>
            <a:ext cx="1071720" cy="52454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34075" y="899794"/>
            <a:ext cx="758190" cy="5275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8120" y="897382"/>
            <a:ext cx="5629275" cy="35134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Segoe UI Emoji"/>
                <a:cs typeface="Segoe UI Emoji"/>
              </a:rPr>
              <a:t>Introducción</a:t>
            </a:r>
            <a:endParaRPr sz="1100">
              <a:latin typeface="Segoe UI Emoji"/>
              <a:cs typeface="Segoe UI Emoji"/>
            </a:endParaRPr>
          </a:p>
          <a:p>
            <a:pPr marL="12700" marR="5080">
              <a:lnSpc>
                <a:spcPct val="119500"/>
              </a:lnSpc>
              <a:spcBef>
                <a:spcPts val="815"/>
              </a:spcBef>
            </a:pPr>
            <a:r>
              <a:rPr sz="1100" dirty="0">
                <a:latin typeface="Segoe UI Emoji"/>
                <a:cs typeface="Segoe UI Emoji"/>
              </a:rPr>
              <a:t>El</a:t>
            </a:r>
            <a:r>
              <a:rPr sz="1100" spc="-3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análisis</a:t>
            </a:r>
            <a:r>
              <a:rPr sz="1100" spc="-2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de</a:t>
            </a:r>
            <a:r>
              <a:rPr sz="1100" spc="-3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redes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y</a:t>
            </a:r>
            <a:r>
              <a:rPr sz="1100" spc="-2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los</a:t>
            </a:r>
            <a:r>
              <a:rPr sz="1100" spc="-2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métodos</a:t>
            </a:r>
            <a:r>
              <a:rPr sz="1100" spc="-3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de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spc="-10" dirty="0">
                <a:latin typeface="Segoe UI Emoji"/>
                <a:cs typeface="Segoe UI Emoji"/>
              </a:rPr>
              <a:t>optimización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constituyen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una</a:t>
            </a:r>
            <a:r>
              <a:rPr sz="1100" spc="-2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herramienta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esencial</a:t>
            </a:r>
            <a:r>
              <a:rPr sz="1100" spc="-25" dirty="0">
                <a:latin typeface="Segoe UI Emoji"/>
                <a:cs typeface="Segoe UI Emoji"/>
              </a:rPr>
              <a:t> en </a:t>
            </a:r>
            <a:r>
              <a:rPr sz="1100" dirty="0">
                <a:latin typeface="Segoe UI Emoji"/>
                <a:cs typeface="Segoe UI Emoji"/>
              </a:rPr>
              <a:t>la</a:t>
            </a:r>
            <a:r>
              <a:rPr sz="1100" spc="-2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investigación</a:t>
            </a:r>
            <a:r>
              <a:rPr sz="1100" spc="-2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de</a:t>
            </a:r>
            <a:r>
              <a:rPr sz="1100" spc="-2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operaciones,</a:t>
            </a:r>
            <a:r>
              <a:rPr sz="1100" spc="-15" dirty="0">
                <a:latin typeface="Segoe UI Emoji"/>
                <a:cs typeface="Segoe UI Emoji"/>
              </a:rPr>
              <a:t> </a:t>
            </a:r>
            <a:r>
              <a:rPr sz="1100" spc="-10" dirty="0">
                <a:latin typeface="Segoe UI Emoji"/>
                <a:cs typeface="Segoe UI Emoji"/>
              </a:rPr>
              <a:t>permitiendo</a:t>
            </a:r>
            <a:r>
              <a:rPr sz="1100" spc="-2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resolver</a:t>
            </a:r>
            <a:r>
              <a:rPr sz="1100" spc="-2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problemas</a:t>
            </a:r>
            <a:r>
              <a:rPr sz="1100" spc="-10" dirty="0">
                <a:latin typeface="Segoe UI Emoji"/>
                <a:cs typeface="Segoe UI Emoji"/>
              </a:rPr>
              <a:t> relacionados</a:t>
            </a:r>
            <a:r>
              <a:rPr sz="1100" spc="-1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con</a:t>
            </a:r>
            <a:r>
              <a:rPr sz="1100" spc="-15" dirty="0">
                <a:latin typeface="Segoe UI Emoji"/>
                <a:cs typeface="Segoe UI Emoji"/>
              </a:rPr>
              <a:t> </a:t>
            </a:r>
            <a:r>
              <a:rPr sz="1100" spc="-25" dirty="0">
                <a:latin typeface="Segoe UI Emoji"/>
                <a:cs typeface="Segoe UI Emoji"/>
              </a:rPr>
              <a:t>la </a:t>
            </a:r>
            <a:r>
              <a:rPr sz="1100" dirty="0">
                <a:latin typeface="Segoe UI Emoji"/>
                <a:cs typeface="Segoe UI Emoji"/>
              </a:rPr>
              <a:t>distribución</a:t>
            </a:r>
            <a:r>
              <a:rPr sz="1100" spc="-3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de</a:t>
            </a:r>
            <a:r>
              <a:rPr sz="1100" spc="-3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recursos,</a:t>
            </a:r>
            <a:r>
              <a:rPr sz="1100" spc="-4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planificación</a:t>
            </a:r>
            <a:r>
              <a:rPr sz="1100" spc="-3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de</a:t>
            </a:r>
            <a:r>
              <a:rPr sz="1100" spc="-3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proyectos</a:t>
            </a:r>
            <a:r>
              <a:rPr sz="1100" spc="-2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y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toma</a:t>
            </a:r>
            <a:r>
              <a:rPr sz="1100" spc="-3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de</a:t>
            </a:r>
            <a:r>
              <a:rPr sz="1100" spc="-3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decisiones</a:t>
            </a:r>
            <a:r>
              <a:rPr sz="1100" spc="-3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eficientes.</a:t>
            </a:r>
            <a:r>
              <a:rPr sz="1100" spc="-25" dirty="0">
                <a:latin typeface="Segoe UI Emoji"/>
                <a:cs typeface="Segoe UI Emoji"/>
              </a:rPr>
              <a:t> En</a:t>
            </a:r>
            <a:endParaRPr sz="1100">
              <a:latin typeface="Segoe UI Emoji"/>
              <a:cs typeface="Segoe UI Emoji"/>
            </a:endParaRPr>
          </a:p>
          <a:p>
            <a:pPr marL="12700" marR="520700">
              <a:lnSpc>
                <a:spcPts val="1580"/>
              </a:lnSpc>
              <a:spcBef>
                <a:spcPts val="85"/>
              </a:spcBef>
            </a:pPr>
            <a:r>
              <a:rPr sz="1100" dirty="0">
                <a:latin typeface="Segoe UI Emoji"/>
                <a:cs typeface="Segoe UI Emoji"/>
              </a:rPr>
              <a:t>esta</a:t>
            </a:r>
            <a:r>
              <a:rPr sz="1100" spc="-2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práctica</a:t>
            </a:r>
            <a:r>
              <a:rPr sz="1100" spc="-1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se</a:t>
            </a:r>
            <a:r>
              <a:rPr sz="1100" spc="-20" dirty="0">
                <a:latin typeface="Segoe UI Emoji"/>
                <a:cs typeface="Segoe UI Emoji"/>
              </a:rPr>
              <a:t> </a:t>
            </a:r>
            <a:r>
              <a:rPr sz="1100" spc="-10" dirty="0">
                <a:latin typeface="Segoe UI Emoji"/>
                <a:cs typeface="Segoe UI Emoji"/>
              </a:rPr>
              <a:t>aplicaron</a:t>
            </a:r>
            <a:r>
              <a:rPr sz="1100" spc="-3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distintas</a:t>
            </a:r>
            <a:r>
              <a:rPr sz="1100" spc="-1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técnicas</a:t>
            </a:r>
            <a:r>
              <a:rPr sz="1100" spc="-1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de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optimización</a:t>
            </a:r>
            <a:r>
              <a:rPr sz="1100" spc="-2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mediante</a:t>
            </a:r>
            <a:r>
              <a:rPr sz="1100" spc="-2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el</a:t>
            </a:r>
            <a:r>
              <a:rPr sz="1100" spc="-2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uso</a:t>
            </a:r>
            <a:r>
              <a:rPr sz="1100" spc="-2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de</a:t>
            </a:r>
            <a:r>
              <a:rPr sz="1100" spc="-20" dirty="0">
                <a:latin typeface="Segoe UI Emoji"/>
                <a:cs typeface="Segoe UI Emoji"/>
              </a:rPr>
              <a:t> </a:t>
            </a:r>
            <a:r>
              <a:rPr sz="1100" spc="-25" dirty="0">
                <a:latin typeface="Segoe UI Emoji"/>
                <a:cs typeface="Segoe UI Emoji"/>
              </a:rPr>
              <a:t>los </a:t>
            </a:r>
            <a:r>
              <a:rPr sz="1100" spc="-10" dirty="0">
                <a:latin typeface="Segoe UI Emoji"/>
                <a:cs typeface="Segoe UI Emoji"/>
              </a:rPr>
              <a:t>programas</a:t>
            </a:r>
            <a:r>
              <a:rPr sz="1100" spc="-4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POM-QM</a:t>
            </a:r>
            <a:r>
              <a:rPr sz="1100" spc="-3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for</a:t>
            </a:r>
            <a:r>
              <a:rPr sz="1100" spc="-3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Windows</a:t>
            </a:r>
            <a:r>
              <a:rPr sz="1100" spc="-3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y</a:t>
            </a:r>
            <a:r>
              <a:rPr sz="1100" spc="-3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RStudio,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abordando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los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principales</a:t>
            </a:r>
            <a:r>
              <a:rPr sz="1100" spc="-30" dirty="0">
                <a:latin typeface="Segoe UI Emoji"/>
                <a:cs typeface="Segoe UI Emoji"/>
              </a:rPr>
              <a:t> </a:t>
            </a:r>
            <a:r>
              <a:rPr sz="1100" spc="-10" dirty="0">
                <a:latin typeface="Segoe UI Emoji"/>
                <a:cs typeface="Segoe UI Emoji"/>
              </a:rPr>
              <a:t>modelos:</a:t>
            </a:r>
            <a:endParaRPr sz="1100">
              <a:latin typeface="Segoe UI Emoji"/>
              <a:cs typeface="Segoe UI Emoji"/>
            </a:endParaRPr>
          </a:p>
          <a:p>
            <a:pPr marL="469265" indent="-228600">
              <a:lnSpc>
                <a:spcPct val="100000"/>
              </a:lnSpc>
              <a:spcBef>
                <a:spcPts val="96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dirty="0">
                <a:latin typeface="Segoe UI Emoji"/>
                <a:cs typeface="Segoe UI Emoji"/>
              </a:rPr>
              <a:t>Problemas</a:t>
            </a:r>
            <a:r>
              <a:rPr sz="1100" spc="-3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de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spc="-10" dirty="0">
                <a:latin typeface="Segoe UI Emoji"/>
                <a:cs typeface="Segoe UI Emoji"/>
              </a:rPr>
              <a:t>asignación,</a:t>
            </a:r>
            <a:endParaRPr sz="1100">
              <a:latin typeface="Segoe UI Emoji"/>
              <a:cs typeface="Segoe UI Emoji"/>
            </a:endParaRPr>
          </a:p>
          <a:p>
            <a:pPr marL="469265" indent="-228600">
              <a:lnSpc>
                <a:spcPct val="100000"/>
              </a:lnSpc>
              <a:spcBef>
                <a:spcPts val="105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spc="-10" dirty="0">
                <a:latin typeface="Segoe UI Emoji"/>
                <a:cs typeface="Segoe UI Emoji"/>
              </a:rPr>
              <a:t>Transporte,</a:t>
            </a:r>
            <a:endParaRPr sz="1100">
              <a:latin typeface="Segoe UI Emoji"/>
              <a:cs typeface="Segoe UI Emoji"/>
            </a:endParaRPr>
          </a:p>
          <a:p>
            <a:pPr marL="469265" indent="-228600">
              <a:lnSpc>
                <a:spcPct val="100000"/>
              </a:lnSpc>
              <a:spcBef>
                <a:spcPts val="1070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dirty="0">
                <a:latin typeface="Segoe UI Emoji"/>
                <a:cs typeface="Segoe UI Emoji"/>
              </a:rPr>
              <a:t>Ruta</a:t>
            </a:r>
            <a:r>
              <a:rPr sz="1100" spc="-2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más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spc="-10" dirty="0">
                <a:latin typeface="Segoe UI Emoji"/>
                <a:cs typeface="Segoe UI Emoji"/>
              </a:rPr>
              <a:t>corta,</a:t>
            </a:r>
            <a:endParaRPr sz="1100">
              <a:latin typeface="Segoe UI Emoji"/>
              <a:cs typeface="Segoe UI Emoji"/>
            </a:endParaRPr>
          </a:p>
          <a:p>
            <a:pPr marL="469265" indent="-228600">
              <a:lnSpc>
                <a:spcPct val="100000"/>
              </a:lnSpc>
              <a:spcBef>
                <a:spcPts val="1060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spc="-10" dirty="0">
                <a:latin typeface="Segoe UI Emoji"/>
                <a:cs typeface="Segoe UI Emoji"/>
              </a:rPr>
              <a:t>Programación</a:t>
            </a:r>
            <a:r>
              <a:rPr sz="1100" dirty="0">
                <a:latin typeface="Segoe UI Emoji"/>
                <a:cs typeface="Segoe UI Emoji"/>
              </a:rPr>
              <a:t> de </a:t>
            </a:r>
            <a:r>
              <a:rPr sz="1100" spc="-10" dirty="0">
                <a:latin typeface="Segoe UI Emoji"/>
                <a:cs typeface="Segoe UI Emoji"/>
              </a:rPr>
              <a:t>proyectos</a:t>
            </a:r>
            <a:r>
              <a:rPr sz="1100" spc="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PERT</a:t>
            </a:r>
            <a:r>
              <a:rPr sz="1100" spc="1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(con</a:t>
            </a:r>
            <a:r>
              <a:rPr sz="1100" spc="1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tiempos</a:t>
            </a:r>
            <a:r>
              <a:rPr sz="1100" spc="5" dirty="0">
                <a:latin typeface="Segoe UI Emoji"/>
                <a:cs typeface="Segoe UI Emoji"/>
              </a:rPr>
              <a:t> </a:t>
            </a:r>
            <a:r>
              <a:rPr sz="1100" spc="-10" dirty="0">
                <a:latin typeface="Segoe UI Emoji"/>
                <a:cs typeface="Segoe UI Emoji"/>
              </a:rPr>
              <a:t>probabilísticos),</a:t>
            </a:r>
            <a:r>
              <a:rPr sz="1100" spc="10" dirty="0">
                <a:latin typeface="Segoe UI Emoji"/>
                <a:cs typeface="Segoe UI Emoji"/>
              </a:rPr>
              <a:t> </a:t>
            </a:r>
            <a:r>
              <a:rPr sz="1100" spc="-50" dirty="0">
                <a:latin typeface="Segoe UI Emoji"/>
                <a:cs typeface="Segoe UI Emoji"/>
              </a:rPr>
              <a:t>y</a:t>
            </a:r>
            <a:endParaRPr sz="1100">
              <a:latin typeface="Segoe UI Emoji"/>
              <a:cs typeface="Segoe UI Emoji"/>
            </a:endParaRPr>
          </a:p>
          <a:p>
            <a:pPr marL="469265" indent="-228600">
              <a:lnSpc>
                <a:spcPct val="100000"/>
              </a:lnSpc>
              <a:spcBef>
                <a:spcPts val="105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dirty="0">
                <a:latin typeface="Segoe UI Emoji"/>
                <a:cs typeface="Segoe UI Emoji"/>
              </a:rPr>
              <a:t>CPM</a:t>
            </a:r>
            <a:r>
              <a:rPr sz="1100" spc="-3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(con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tiempos</a:t>
            </a:r>
            <a:r>
              <a:rPr sz="1100" spc="-15" dirty="0">
                <a:latin typeface="Segoe UI Emoji"/>
                <a:cs typeface="Segoe UI Emoji"/>
              </a:rPr>
              <a:t> </a:t>
            </a:r>
            <a:r>
              <a:rPr sz="1100" spc="-10" dirty="0">
                <a:latin typeface="Segoe UI Emoji"/>
                <a:cs typeface="Segoe UI Emoji"/>
              </a:rPr>
              <a:t>deterministas).</a:t>
            </a:r>
            <a:endParaRPr sz="1100">
              <a:latin typeface="Segoe UI Emoji"/>
              <a:cs typeface="Segoe UI Emoji"/>
            </a:endParaRPr>
          </a:p>
          <a:p>
            <a:pPr marL="12700" marR="36830">
              <a:lnSpc>
                <a:spcPct val="120000"/>
              </a:lnSpc>
              <a:spcBef>
                <a:spcPts val="790"/>
              </a:spcBef>
            </a:pPr>
            <a:r>
              <a:rPr sz="1100" dirty="0">
                <a:latin typeface="Segoe UI Emoji"/>
                <a:cs typeface="Segoe UI Emoji"/>
              </a:rPr>
              <a:t>A</a:t>
            </a:r>
            <a:r>
              <a:rPr sz="1100" spc="-3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través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de</a:t>
            </a:r>
            <a:r>
              <a:rPr sz="1100" spc="-3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estos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ejercicios,</a:t>
            </a:r>
            <a:r>
              <a:rPr sz="1100" spc="-2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se</a:t>
            </a:r>
            <a:r>
              <a:rPr sz="1100" spc="-3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buscó</a:t>
            </a:r>
            <a:r>
              <a:rPr sz="1100" spc="-4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comprender</a:t>
            </a:r>
            <a:r>
              <a:rPr sz="1100" spc="-3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cómo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cada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método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puede</a:t>
            </a:r>
            <a:r>
              <a:rPr sz="1100" spc="-3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representar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spc="-50" dirty="0">
                <a:latin typeface="Segoe UI Emoji"/>
                <a:cs typeface="Segoe UI Emoji"/>
              </a:rPr>
              <a:t>y </a:t>
            </a:r>
            <a:r>
              <a:rPr sz="1100" dirty="0">
                <a:latin typeface="Segoe UI Emoji"/>
                <a:cs typeface="Segoe UI Emoji"/>
              </a:rPr>
              <a:t>optimizar</a:t>
            </a:r>
            <a:r>
              <a:rPr sz="1100" spc="-3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distintas</a:t>
            </a:r>
            <a:r>
              <a:rPr sz="1100" spc="-3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situaciones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reales</a:t>
            </a:r>
            <a:r>
              <a:rPr sz="1100" spc="-3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en</a:t>
            </a:r>
            <a:r>
              <a:rPr sz="1100" spc="-3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las</a:t>
            </a:r>
            <a:r>
              <a:rPr sz="1100" spc="-3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que</a:t>
            </a:r>
            <a:r>
              <a:rPr sz="1100" spc="-3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es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necesario</a:t>
            </a:r>
            <a:r>
              <a:rPr sz="1100" spc="-3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minimizar</a:t>
            </a:r>
            <a:r>
              <a:rPr sz="1100" spc="-4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costos,</a:t>
            </a:r>
            <a:r>
              <a:rPr sz="1100" spc="-3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tiempos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spc="-50" dirty="0">
                <a:latin typeface="Segoe UI Emoji"/>
                <a:cs typeface="Segoe UI Emoji"/>
              </a:rPr>
              <a:t>o</a:t>
            </a:r>
            <a:endParaRPr sz="1100">
              <a:latin typeface="Segoe UI Emoji"/>
              <a:cs typeface="Segoe UI Emoji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dirty="0">
                <a:latin typeface="Segoe UI Emoji"/>
                <a:cs typeface="Segoe UI Emoji"/>
              </a:rPr>
              <a:t>recursos,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manteniendo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la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eficiencia</a:t>
            </a:r>
            <a:r>
              <a:rPr sz="1100" spc="-3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operativa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y</a:t>
            </a:r>
            <a:r>
              <a:rPr sz="1100" spc="-20" dirty="0">
                <a:latin typeface="Segoe UI Emoji"/>
                <a:cs typeface="Segoe UI Emoji"/>
              </a:rPr>
              <a:t> </a:t>
            </a:r>
            <a:r>
              <a:rPr sz="1100" spc="-10" dirty="0">
                <a:latin typeface="Segoe UI Emoji"/>
                <a:cs typeface="Segoe UI Emoji"/>
              </a:rPr>
              <a:t>estratégica.</a:t>
            </a:r>
            <a:endParaRPr sz="1100">
              <a:latin typeface="Segoe UI Emoji"/>
              <a:cs typeface="Segoe UI Emoj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8120" y="897382"/>
            <a:ext cx="5626735" cy="4013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Segoe UI Emoji"/>
                <a:cs typeface="Segoe UI Emoji"/>
              </a:rPr>
              <a:t>Justificación</a:t>
            </a:r>
            <a:endParaRPr sz="1100">
              <a:latin typeface="Segoe UI Emoji"/>
              <a:cs typeface="Segoe UI Emoji"/>
            </a:endParaRPr>
          </a:p>
          <a:p>
            <a:pPr marL="12700" marR="395605">
              <a:lnSpc>
                <a:spcPct val="119500"/>
              </a:lnSpc>
              <a:spcBef>
                <a:spcPts val="815"/>
              </a:spcBef>
            </a:pPr>
            <a:r>
              <a:rPr sz="1100" dirty="0">
                <a:latin typeface="Segoe UI Emoji"/>
                <a:cs typeface="Segoe UI Emoji"/>
              </a:rPr>
              <a:t>El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desarrollo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de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estas</a:t>
            </a:r>
            <a:r>
              <a:rPr sz="1100" spc="-2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prácticas</a:t>
            </a:r>
            <a:r>
              <a:rPr sz="1100" spc="-2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permitió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poner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en</a:t>
            </a:r>
            <a:r>
              <a:rPr sz="1100" spc="-3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marcha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los</a:t>
            </a:r>
            <a:r>
              <a:rPr sz="1100" spc="-30" dirty="0">
                <a:latin typeface="Segoe UI Emoji"/>
                <a:cs typeface="Segoe UI Emoji"/>
              </a:rPr>
              <a:t> </a:t>
            </a:r>
            <a:r>
              <a:rPr sz="1100" spc="-10" dirty="0">
                <a:latin typeface="Segoe UI Emoji"/>
                <a:cs typeface="Segoe UI Emoji"/>
              </a:rPr>
              <a:t>conocimientos</a:t>
            </a:r>
            <a:r>
              <a:rPr sz="1100" spc="-20" dirty="0">
                <a:latin typeface="Segoe UI Emoji"/>
                <a:cs typeface="Segoe UI Emoji"/>
              </a:rPr>
              <a:t> </a:t>
            </a:r>
            <a:r>
              <a:rPr sz="1100" spc="-10" dirty="0">
                <a:latin typeface="Segoe UI Emoji"/>
                <a:cs typeface="Segoe UI Emoji"/>
              </a:rPr>
              <a:t>teóricos </a:t>
            </a:r>
            <a:r>
              <a:rPr sz="1100" dirty="0">
                <a:latin typeface="Segoe UI Emoji"/>
                <a:cs typeface="Segoe UI Emoji"/>
              </a:rPr>
              <a:t>adquiridos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en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el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análisis</a:t>
            </a:r>
            <a:r>
              <a:rPr sz="1100" spc="-1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de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redes,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aplicando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herramientas</a:t>
            </a:r>
            <a:r>
              <a:rPr sz="1100" spc="-20" dirty="0">
                <a:latin typeface="Segoe UI Emoji"/>
                <a:cs typeface="Segoe UI Emoji"/>
              </a:rPr>
              <a:t> </a:t>
            </a:r>
            <a:r>
              <a:rPr sz="1100" spc="-10" dirty="0">
                <a:latin typeface="Segoe UI Emoji"/>
                <a:cs typeface="Segoe UI Emoji"/>
              </a:rPr>
              <a:t>computacionales</a:t>
            </a:r>
            <a:r>
              <a:rPr sz="1100" spc="-15" dirty="0">
                <a:latin typeface="Segoe UI Emoji"/>
                <a:cs typeface="Segoe UI Emoji"/>
              </a:rPr>
              <a:t> </a:t>
            </a:r>
            <a:r>
              <a:rPr sz="1100" spc="-25" dirty="0">
                <a:latin typeface="Segoe UI Emoji"/>
                <a:cs typeface="Segoe UI Emoji"/>
              </a:rPr>
              <a:t>que </a:t>
            </a:r>
            <a:r>
              <a:rPr sz="1100" spc="-10" dirty="0">
                <a:latin typeface="Segoe UI Emoji"/>
                <a:cs typeface="Segoe UI Emoji"/>
              </a:rPr>
              <a:t>automatizan</a:t>
            </a:r>
            <a:r>
              <a:rPr sz="1100" spc="-4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cálculos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complejos</a:t>
            </a:r>
            <a:r>
              <a:rPr sz="1100" spc="-3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y</a:t>
            </a:r>
            <a:r>
              <a:rPr sz="1100" spc="-1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facilitan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la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interpretación</a:t>
            </a:r>
            <a:r>
              <a:rPr sz="1100" spc="-3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de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spc="-10" dirty="0">
                <a:latin typeface="Segoe UI Emoji"/>
                <a:cs typeface="Segoe UI Emoji"/>
              </a:rPr>
              <a:t>resultados.</a:t>
            </a:r>
            <a:endParaRPr sz="1100">
              <a:latin typeface="Segoe UI Emoji"/>
              <a:cs typeface="Segoe UI Emoji"/>
            </a:endParaRPr>
          </a:p>
          <a:p>
            <a:pPr marL="469265" marR="352425" indent="-228600">
              <a:lnSpc>
                <a:spcPct val="120000"/>
              </a:lnSpc>
              <a:spcBef>
                <a:spcPts val="790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dirty="0">
                <a:latin typeface="Segoe UI Emoji"/>
                <a:cs typeface="Segoe UI Emoji"/>
              </a:rPr>
              <a:t>En</a:t>
            </a:r>
            <a:r>
              <a:rPr sz="1100" spc="-3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los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problemas</a:t>
            </a:r>
            <a:r>
              <a:rPr sz="1100" spc="-2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de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transporte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se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buscó</a:t>
            </a:r>
            <a:r>
              <a:rPr sz="1100" spc="-20" dirty="0">
                <a:latin typeface="Segoe UI Emoji"/>
                <a:cs typeface="Segoe UI Emoji"/>
              </a:rPr>
              <a:t> </a:t>
            </a:r>
            <a:r>
              <a:rPr sz="1100" spc="-10" dirty="0">
                <a:latin typeface="Segoe UI Emoji"/>
                <a:cs typeface="Segoe UI Emoji"/>
              </a:rPr>
              <a:t>determinar</a:t>
            </a:r>
            <a:r>
              <a:rPr sz="1100" spc="-2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la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distribución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óptima</a:t>
            </a:r>
            <a:r>
              <a:rPr sz="1100" spc="-20" dirty="0">
                <a:latin typeface="Segoe UI Emoji"/>
                <a:cs typeface="Segoe UI Emoji"/>
              </a:rPr>
              <a:t> </a:t>
            </a:r>
            <a:r>
              <a:rPr sz="1100" spc="-25" dirty="0">
                <a:latin typeface="Segoe UI Emoji"/>
                <a:cs typeface="Segoe UI Emoji"/>
              </a:rPr>
              <a:t>de </a:t>
            </a:r>
            <a:r>
              <a:rPr sz="1100" dirty="0">
                <a:latin typeface="Segoe UI Emoji"/>
                <a:cs typeface="Segoe UI Emoji"/>
              </a:rPr>
              <a:t>productos</a:t>
            </a:r>
            <a:r>
              <a:rPr sz="1100" spc="-3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entre</a:t>
            </a:r>
            <a:r>
              <a:rPr sz="1100" spc="-3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orígenes</a:t>
            </a:r>
            <a:r>
              <a:rPr sz="1100" spc="-4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y</a:t>
            </a:r>
            <a:r>
              <a:rPr sz="1100" spc="-3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destinos,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reduciendo</a:t>
            </a:r>
            <a:r>
              <a:rPr sz="1100" spc="-3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los</a:t>
            </a:r>
            <a:r>
              <a:rPr sz="1100" spc="-3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costos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spc="-10" dirty="0">
                <a:latin typeface="Segoe UI Emoji"/>
                <a:cs typeface="Segoe UI Emoji"/>
              </a:rPr>
              <a:t>logísticos.</a:t>
            </a:r>
            <a:endParaRPr sz="1100">
              <a:latin typeface="Segoe UI Emoji"/>
              <a:cs typeface="Segoe UI Emoji"/>
            </a:endParaRPr>
          </a:p>
          <a:p>
            <a:pPr marL="469265" marR="395605" indent="-228600">
              <a:lnSpc>
                <a:spcPct val="119100"/>
              </a:lnSpc>
              <a:spcBef>
                <a:spcPts val="80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dirty="0">
                <a:latin typeface="Segoe UI Emoji"/>
                <a:cs typeface="Segoe UI Emoji"/>
              </a:rPr>
              <a:t>Los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problemas</a:t>
            </a:r>
            <a:r>
              <a:rPr sz="1100" spc="-2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de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asignación</a:t>
            </a:r>
            <a:r>
              <a:rPr sz="1100" spc="-20" dirty="0">
                <a:latin typeface="Segoe UI Emoji"/>
                <a:cs typeface="Segoe UI Emoji"/>
              </a:rPr>
              <a:t> </a:t>
            </a:r>
            <a:r>
              <a:rPr sz="1100" spc="-10" dirty="0">
                <a:latin typeface="Segoe UI Emoji"/>
                <a:cs typeface="Segoe UI Emoji"/>
              </a:rPr>
              <a:t>permitieron</a:t>
            </a:r>
            <a:r>
              <a:rPr sz="1100" spc="-2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optimizar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la</a:t>
            </a:r>
            <a:r>
              <a:rPr sz="1100" spc="-2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asignación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de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spc="-10" dirty="0">
                <a:latin typeface="Segoe UI Emoji"/>
                <a:cs typeface="Segoe UI Emoji"/>
              </a:rPr>
              <a:t>recursos </a:t>
            </a:r>
            <a:r>
              <a:rPr sz="1100" dirty="0">
                <a:latin typeface="Segoe UI Emoji"/>
                <a:cs typeface="Segoe UI Emoji"/>
              </a:rPr>
              <a:t>(trabajadores,</a:t>
            </a:r>
            <a:r>
              <a:rPr sz="1100" spc="-2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máquinas,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spc="-10" dirty="0">
                <a:latin typeface="Segoe UI Emoji"/>
                <a:cs typeface="Segoe UI Emoji"/>
              </a:rPr>
              <a:t>profesores</a:t>
            </a:r>
            <a:r>
              <a:rPr sz="1100" spc="-2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o</a:t>
            </a:r>
            <a:r>
              <a:rPr sz="1100" spc="-20" dirty="0">
                <a:latin typeface="Segoe UI Emoji"/>
                <a:cs typeface="Segoe UI Emoji"/>
              </a:rPr>
              <a:t> </a:t>
            </a:r>
            <a:r>
              <a:rPr sz="1100" spc="-10" dirty="0">
                <a:latin typeface="Segoe UI Emoji"/>
                <a:cs typeface="Segoe UI Emoji"/>
              </a:rPr>
              <a:t>repartidores)</a:t>
            </a:r>
            <a:r>
              <a:rPr sz="1100" spc="-1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a</a:t>
            </a:r>
            <a:r>
              <a:rPr sz="1100" spc="-1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tareas</a:t>
            </a:r>
            <a:r>
              <a:rPr sz="1100" spc="-1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o</a:t>
            </a:r>
            <a:r>
              <a:rPr sz="1100" spc="-20" dirty="0">
                <a:latin typeface="Segoe UI Emoji"/>
                <a:cs typeface="Segoe UI Emoji"/>
              </a:rPr>
              <a:t> </a:t>
            </a:r>
            <a:r>
              <a:rPr sz="1100" spc="-10" dirty="0">
                <a:latin typeface="Segoe UI Emoji"/>
                <a:cs typeface="Segoe UI Emoji"/>
              </a:rPr>
              <a:t>proyectos</a:t>
            </a:r>
            <a:endParaRPr sz="1100">
              <a:latin typeface="Segoe UI Emoji"/>
              <a:cs typeface="Segoe UI Emoji"/>
            </a:endParaRPr>
          </a:p>
          <a:p>
            <a:pPr marL="469265">
              <a:lnSpc>
                <a:spcPct val="100000"/>
              </a:lnSpc>
              <a:spcBef>
                <a:spcPts val="265"/>
              </a:spcBef>
            </a:pPr>
            <a:r>
              <a:rPr sz="1100" spc="-10" dirty="0">
                <a:latin typeface="Segoe UI Emoji"/>
                <a:cs typeface="Segoe UI Emoji"/>
              </a:rPr>
              <a:t>específicos.</a:t>
            </a:r>
            <a:endParaRPr sz="1100">
              <a:latin typeface="Segoe UI Emoji"/>
              <a:cs typeface="Segoe UI Emoji"/>
            </a:endParaRPr>
          </a:p>
          <a:p>
            <a:pPr marL="469265" indent="-228600">
              <a:lnSpc>
                <a:spcPct val="100000"/>
              </a:lnSpc>
              <a:spcBef>
                <a:spcPts val="105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dirty="0">
                <a:latin typeface="Segoe UI Emoji"/>
                <a:cs typeface="Segoe UI Emoji"/>
              </a:rPr>
              <a:t>En</a:t>
            </a:r>
            <a:r>
              <a:rPr sz="1100" spc="-2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los</a:t>
            </a:r>
            <a:r>
              <a:rPr sz="1100" spc="-1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problemas</a:t>
            </a:r>
            <a:r>
              <a:rPr sz="1100" spc="-1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de</a:t>
            </a:r>
            <a:r>
              <a:rPr sz="1100" spc="-1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la</a:t>
            </a:r>
            <a:r>
              <a:rPr sz="1100" spc="-1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ruta</a:t>
            </a:r>
            <a:r>
              <a:rPr sz="1100" spc="-1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más</a:t>
            </a:r>
            <a:r>
              <a:rPr sz="1100" spc="-1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corta,</a:t>
            </a:r>
            <a:r>
              <a:rPr sz="1100" spc="-1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se</a:t>
            </a:r>
            <a:r>
              <a:rPr sz="1100" spc="-15" dirty="0">
                <a:latin typeface="Segoe UI Emoji"/>
                <a:cs typeface="Segoe UI Emoji"/>
              </a:rPr>
              <a:t> </a:t>
            </a:r>
            <a:r>
              <a:rPr sz="1100" spc="-10" dirty="0">
                <a:latin typeface="Segoe UI Emoji"/>
                <a:cs typeface="Segoe UI Emoji"/>
              </a:rPr>
              <a:t>identificaron</a:t>
            </a:r>
            <a:r>
              <a:rPr sz="1100" spc="-1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los</a:t>
            </a:r>
            <a:r>
              <a:rPr sz="1100" spc="-1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caminos</a:t>
            </a:r>
            <a:r>
              <a:rPr sz="1100" spc="-1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de</a:t>
            </a:r>
            <a:r>
              <a:rPr sz="1100" spc="-15" dirty="0">
                <a:latin typeface="Segoe UI Emoji"/>
                <a:cs typeface="Segoe UI Emoji"/>
              </a:rPr>
              <a:t> </a:t>
            </a:r>
            <a:r>
              <a:rPr sz="1100" spc="-10" dirty="0">
                <a:latin typeface="Segoe UI Emoji"/>
                <a:cs typeface="Segoe UI Emoji"/>
              </a:rPr>
              <a:t>menor</a:t>
            </a:r>
            <a:endParaRPr sz="1100">
              <a:latin typeface="Segoe UI Emoji"/>
              <a:cs typeface="Segoe UI Emoji"/>
            </a:endParaRPr>
          </a:p>
          <a:p>
            <a:pPr marL="469265">
              <a:lnSpc>
                <a:spcPct val="100000"/>
              </a:lnSpc>
              <a:spcBef>
                <a:spcPts val="265"/>
              </a:spcBef>
            </a:pPr>
            <a:r>
              <a:rPr sz="1100" dirty="0">
                <a:latin typeface="Segoe UI Emoji"/>
                <a:cs typeface="Segoe UI Emoji"/>
              </a:rPr>
              <a:t>distancia</a:t>
            </a:r>
            <a:r>
              <a:rPr sz="1100" spc="-3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o</a:t>
            </a:r>
            <a:r>
              <a:rPr sz="1100" spc="-2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costo</a:t>
            </a:r>
            <a:r>
              <a:rPr sz="1100" spc="-2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en</a:t>
            </a:r>
            <a:r>
              <a:rPr sz="1100" spc="-3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una</a:t>
            </a:r>
            <a:r>
              <a:rPr sz="1100" spc="-3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red,</a:t>
            </a:r>
            <a:r>
              <a:rPr sz="1100" spc="-2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aplicando</a:t>
            </a:r>
            <a:r>
              <a:rPr sz="1100" spc="-3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algoritmos</a:t>
            </a:r>
            <a:r>
              <a:rPr sz="1100" spc="-2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de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optimización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de</a:t>
            </a:r>
            <a:r>
              <a:rPr sz="1100" spc="-30" dirty="0">
                <a:latin typeface="Segoe UI Emoji"/>
                <a:cs typeface="Segoe UI Emoji"/>
              </a:rPr>
              <a:t> </a:t>
            </a:r>
            <a:r>
              <a:rPr sz="1100" spc="-10" dirty="0">
                <a:latin typeface="Segoe UI Emoji"/>
                <a:cs typeface="Segoe UI Emoji"/>
              </a:rPr>
              <a:t>trayectorias.</a:t>
            </a:r>
            <a:endParaRPr sz="1100">
              <a:latin typeface="Segoe UI Emoji"/>
              <a:cs typeface="Segoe UI Emoji"/>
            </a:endParaRPr>
          </a:p>
          <a:p>
            <a:pPr marL="469265" marR="103505" indent="-228600" algn="just">
              <a:lnSpc>
                <a:spcPct val="119500"/>
              </a:lnSpc>
              <a:spcBef>
                <a:spcPts val="800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dirty="0">
                <a:latin typeface="Segoe UI Emoji"/>
                <a:cs typeface="Segoe UI Emoji"/>
              </a:rPr>
              <a:t>Finalmente,</a:t>
            </a:r>
            <a:r>
              <a:rPr sz="1100" spc="-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con</a:t>
            </a:r>
            <a:r>
              <a:rPr sz="1100" spc="-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PERT</a:t>
            </a:r>
            <a:r>
              <a:rPr sz="1100" spc="-1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y CPM, se</a:t>
            </a:r>
            <a:r>
              <a:rPr sz="1100" spc="-10" dirty="0">
                <a:latin typeface="Segoe UI Emoji"/>
                <a:cs typeface="Segoe UI Emoji"/>
              </a:rPr>
              <a:t> planificaron</a:t>
            </a:r>
            <a:r>
              <a:rPr sz="1100" spc="-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proyectos</a:t>
            </a:r>
            <a:r>
              <a:rPr sz="1100" spc="-1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reales </a:t>
            </a:r>
            <a:r>
              <a:rPr sz="1100" spc="-10" dirty="0">
                <a:latin typeface="Segoe UI Emoji"/>
                <a:cs typeface="Segoe UI Emoji"/>
              </a:rPr>
              <a:t>identificando</a:t>
            </a:r>
            <a:r>
              <a:rPr sz="1100" spc="-2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la </a:t>
            </a:r>
            <a:r>
              <a:rPr sz="1100" spc="-20" dirty="0">
                <a:latin typeface="Segoe UI Emoji"/>
                <a:cs typeface="Segoe UI Emoji"/>
              </a:rPr>
              <a:t>ruta </a:t>
            </a:r>
            <a:r>
              <a:rPr sz="1100" dirty="0">
                <a:latin typeface="Segoe UI Emoji"/>
                <a:cs typeface="Segoe UI Emoji"/>
              </a:rPr>
              <a:t>crítica,</a:t>
            </a:r>
            <a:r>
              <a:rPr sz="1100" spc="-3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la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duración</a:t>
            </a:r>
            <a:r>
              <a:rPr sz="1100" spc="-3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total</a:t>
            </a:r>
            <a:r>
              <a:rPr sz="1100" spc="-3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del</a:t>
            </a:r>
            <a:r>
              <a:rPr sz="1100" spc="-3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proyecto</a:t>
            </a:r>
            <a:r>
              <a:rPr sz="1100" spc="-3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y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las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actividades</a:t>
            </a:r>
            <a:r>
              <a:rPr sz="1100" spc="-3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con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holgura,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spc="-10" dirty="0">
                <a:latin typeface="Segoe UI Emoji"/>
                <a:cs typeface="Segoe UI Emoji"/>
              </a:rPr>
              <a:t>fundamentales </a:t>
            </a:r>
            <a:r>
              <a:rPr sz="1100" dirty="0">
                <a:latin typeface="Segoe UI Emoji"/>
                <a:cs typeface="Segoe UI Emoji"/>
              </a:rPr>
              <a:t>para</a:t>
            </a:r>
            <a:r>
              <a:rPr sz="1100" spc="-2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una</a:t>
            </a:r>
            <a:r>
              <a:rPr sz="1100" spc="-2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gestión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efectiva</a:t>
            </a:r>
            <a:r>
              <a:rPr sz="1100" spc="-3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del</a:t>
            </a:r>
            <a:r>
              <a:rPr sz="1100" spc="-10" dirty="0">
                <a:latin typeface="Segoe UI Emoji"/>
                <a:cs typeface="Segoe UI Emoji"/>
              </a:rPr>
              <a:t> tiempo.</a:t>
            </a:r>
            <a:endParaRPr sz="1100">
              <a:latin typeface="Segoe UI Emoji"/>
              <a:cs typeface="Segoe UI Emoji"/>
            </a:endParaRPr>
          </a:p>
          <a:p>
            <a:pPr marL="12700" marR="5080">
              <a:lnSpc>
                <a:spcPct val="120000"/>
              </a:lnSpc>
              <a:spcBef>
                <a:spcPts val="790"/>
              </a:spcBef>
            </a:pPr>
            <a:r>
              <a:rPr sz="1100" dirty="0">
                <a:latin typeface="Segoe UI Emoji"/>
                <a:cs typeface="Segoe UI Emoji"/>
              </a:rPr>
              <a:t>El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uso</a:t>
            </a:r>
            <a:r>
              <a:rPr sz="1100" spc="-2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combinado</a:t>
            </a:r>
            <a:r>
              <a:rPr sz="1100" spc="-2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de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RStudio</a:t>
            </a:r>
            <a:r>
              <a:rPr sz="1100" spc="-2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(para</a:t>
            </a:r>
            <a:r>
              <a:rPr sz="1100" spc="-2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el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análisis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estadístico</a:t>
            </a:r>
            <a:r>
              <a:rPr sz="1100" spc="-3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y</a:t>
            </a:r>
            <a:r>
              <a:rPr sz="1100" spc="-15" dirty="0">
                <a:latin typeface="Segoe UI Emoji"/>
                <a:cs typeface="Segoe UI Emoji"/>
              </a:rPr>
              <a:t> </a:t>
            </a:r>
            <a:r>
              <a:rPr sz="1100" spc="-10" dirty="0">
                <a:latin typeface="Segoe UI Emoji"/>
                <a:cs typeface="Segoe UI Emoji"/>
              </a:rPr>
              <a:t>programático)</a:t>
            </a:r>
            <a:r>
              <a:rPr sz="1100" spc="-3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y</a:t>
            </a:r>
            <a:r>
              <a:rPr sz="1100" spc="-1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POM-QM</a:t>
            </a:r>
            <a:r>
              <a:rPr sz="1100" spc="-20" dirty="0">
                <a:latin typeface="Segoe UI Emoji"/>
                <a:cs typeface="Segoe UI Emoji"/>
              </a:rPr>
              <a:t> </a:t>
            </a:r>
            <a:r>
              <a:rPr sz="1100" spc="-10" dirty="0">
                <a:latin typeface="Segoe UI Emoji"/>
                <a:cs typeface="Segoe UI Emoji"/>
              </a:rPr>
              <a:t>(para </a:t>
            </a:r>
            <a:r>
              <a:rPr sz="1100" dirty="0">
                <a:latin typeface="Segoe UI Emoji"/>
                <a:cs typeface="Segoe UI Emoji"/>
              </a:rPr>
              <a:t>la</a:t>
            </a:r>
            <a:r>
              <a:rPr sz="1100" spc="-3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resolución</a:t>
            </a:r>
            <a:r>
              <a:rPr sz="1100" spc="-3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visual</a:t>
            </a:r>
            <a:r>
              <a:rPr sz="1100" spc="-3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y</a:t>
            </a:r>
            <a:r>
              <a:rPr sz="1100" spc="-2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tabular)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permitió</a:t>
            </a:r>
            <a:r>
              <a:rPr sz="1100" spc="-3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contrastar</a:t>
            </a:r>
            <a:r>
              <a:rPr sz="1100" spc="-2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resultados</a:t>
            </a:r>
            <a:r>
              <a:rPr sz="1100" spc="-3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y</a:t>
            </a:r>
            <a:r>
              <a:rPr sz="1100" spc="-20" dirty="0">
                <a:latin typeface="Segoe UI Emoji"/>
                <a:cs typeface="Segoe UI Emoji"/>
              </a:rPr>
              <a:t> </a:t>
            </a:r>
            <a:r>
              <a:rPr sz="1100" spc="-10" dirty="0">
                <a:latin typeface="Segoe UI Emoji"/>
                <a:cs typeface="Segoe UI Emoji"/>
              </a:rPr>
              <a:t>comprender</a:t>
            </a:r>
            <a:r>
              <a:rPr sz="1100" spc="-4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la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spc="-10" dirty="0">
                <a:latin typeface="Segoe UI Emoji"/>
                <a:cs typeface="Segoe UI Emoji"/>
              </a:rPr>
              <a:t>aplicabilidad </a:t>
            </a:r>
            <a:r>
              <a:rPr sz="1100" dirty="0">
                <a:latin typeface="Segoe UI Emoji"/>
                <a:cs typeface="Segoe UI Emoji"/>
              </a:rPr>
              <a:t>de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ambos</a:t>
            </a:r>
            <a:r>
              <a:rPr sz="1100" spc="-2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enfoques</a:t>
            </a:r>
            <a:r>
              <a:rPr sz="1100" spc="-1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en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el</a:t>
            </a:r>
            <a:r>
              <a:rPr sz="1100" spc="-3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ámbito</a:t>
            </a:r>
            <a:r>
              <a:rPr sz="1100" spc="-20" dirty="0">
                <a:latin typeface="Segoe UI Emoji"/>
                <a:cs typeface="Segoe UI Emoji"/>
              </a:rPr>
              <a:t> </a:t>
            </a:r>
            <a:r>
              <a:rPr sz="1100" spc="-10" dirty="0">
                <a:latin typeface="Segoe UI Emoji"/>
                <a:cs typeface="Segoe UI Emoji"/>
              </a:rPr>
              <a:t>profesional.</a:t>
            </a:r>
            <a:endParaRPr sz="1100">
              <a:latin typeface="Segoe UI Emoji"/>
              <a:cs typeface="Segoe UI Emoj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8120" y="897382"/>
            <a:ext cx="5435600" cy="1518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Segoe UI Emoji"/>
                <a:cs typeface="Segoe UI Emoji"/>
              </a:rPr>
              <a:t>EJERCICIOS</a:t>
            </a:r>
            <a:r>
              <a:rPr sz="1100" spc="-3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DE</a:t>
            </a:r>
            <a:r>
              <a:rPr sz="1100" spc="-1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ASIGNACION</a:t>
            </a:r>
            <a:r>
              <a:rPr sz="1100" spc="-2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EN</a:t>
            </a:r>
            <a:r>
              <a:rPr sz="1100" spc="-20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RSTUDIO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dirty="0">
                <a:latin typeface="Segoe UI Emoji"/>
                <a:cs typeface="Segoe UI Emoji"/>
              </a:rPr>
              <a:t>Y</a:t>
            </a:r>
            <a:r>
              <a:rPr sz="1100" spc="-25" dirty="0">
                <a:latin typeface="Segoe UI Emoji"/>
                <a:cs typeface="Segoe UI Emoji"/>
              </a:rPr>
              <a:t> </a:t>
            </a:r>
            <a:r>
              <a:rPr sz="1100" spc="-10" dirty="0">
                <a:latin typeface="Segoe UI Emoji"/>
                <a:cs typeface="Segoe UI Emoji"/>
              </a:rPr>
              <a:t>POMQM</a:t>
            </a:r>
            <a:endParaRPr sz="1100">
              <a:latin typeface="Segoe UI Emoji"/>
              <a:cs typeface="Segoe UI Emoji"/>
            </a:endParaRPr>
          </a:p>
          <a:p>
            <a:pPr marL="12700" marR="2424430">
              <a:lnSpc>
                <a:spcPts val="2240"/>
              </a:lnSpc>
              <a:spcBef>
                <a:spcPts val="225"/>
              </a:spcBef>
            </a:pPr>
            <a:r>
              <a:rPr sz="1100" b="1" spc="-50" dirty="0">
                <a:latin typeface="Tahoma"/>
                <a:cs typeface="Tahoma"/>
              </a:rPr>
              <a:t>Ejercicio </a:t>
            </a:r>
            <a:r>
              <a:rPr sz="1100" b="1" spc="-105" dirty="0">
                <a:latin typeface="Tahoma"/>
                <a:cs typeface="Tahoma"/>
              </a:rPr>
              <a:t>1:</a:t>
            </a:r>
            <a:r>
              <a:rPr sz="1100" b="1" spc="-50" dirty="0">
                <a:latin typeface="Tahoma"/>
                <a:cs typeface="Tahoma"/>
              </a:rPr>
              <a:t> </a:t>
            </a:r>
            <a:r>
              <a:rPr sz="1100" b="1" spc="-60" dirty="0">
                <a:latin typeface="Tahoma"/>
                <a:cs typeface="Tahoma"/>
              </a:rPr>
              <a:t>Asignación</a:t>
            </a:r>
            <a:r>
              <a:rPr sz="1100" b="1" spc="-75" dirty="0">
                <a:latin typeface="Tahoma"/>
                <a:cs typeface="Tahoma"/>
              </a:rPr>
              <a:t> </a:t>
            </a:r>
            <a:r>
              <a:rPr sz="1100" b="1" spc="-55" dirty="0">
                <a:latin typeface="Tahoma"/>
                <a:cs typeface="Tahoma"/>
              </a:rPr>
              <a:t>de </a:t>
            </a:r>
            <a:r>
              <a:rPr sz="1100" b="1" spc="-70" dirty="0">
                <a:latin typeface="Tahoma"/>
                <a:cs typeface="Tahoma"/>
              </a:rPr>
              <a:t>trabajadores</a:t>
            </a:r>
            <a:r>
              <a:rPr sz="1100" b="1" spc="-75" dirty="0">
                <a:latin typeface="Tahoma"/>
                <a:cs typeface="Tahoma"/>
              </a:rPr>
              <a:t> </a:t>
            </a:r>
            <a:r>
              <a:rPr sz="1100" b="1" spc="-65" dirty="0">
                <a:latin typeface="Tahoma"/>
                <a:cs typeface="Tahoma"/>
              </a:rPr>
              <a:t>a</a:t>
            </a:r>
            <a:r>
              <a:rPr sz="1100" b="1" spc="-60" dirty="0">
                <a:latin typeface="Tahoma"/>
                <a:cs typeface="Tahoma"/>
              </a:rPr>
              <a:t> </a:t>
            </a:r>
            <a:r>
              <a:rPr sz="1100" b="1" spc="-30" dirty="0">
                <a:latin typeface="Tahoma"/>
                <a:cs typeface="Tahoma"/>
              </a:rPr>
              <a:t>tareas </a:t>
            </a:r>
            <a:r>
              <a:rPr sz="1100" b="1" spc="-10" dirty="0">
                <a:latin typeface="Tahoma"/>
                <a:cs typeface="Tahoma"/>
              </a:rPr>
              <a:t>Enunciado: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9100"/>
              </a:lnSpc>
              <a:spcBef>
                <a:spcPts val="590"/>
              </a:spcBef>
            </a:pPr>
            <a:r>
              <a:rPr sz="1100" dirty="0">
                <a:latin typeface="Tahoma"/>
                <a:cs typeface="Tahoma"/>
              </a:rPr>
              <a:t>Una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empresa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tiene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b="1" spc="-120" dirty="0">
                <a:latin typeface="Tahoma"/>
                <a:cs typeface="Tahoma"/>
              </a:rPr>
              <a:t>3</a:t>
            </a:r>
            <a:r>
              <a:rPr sz="1100" b="1" spc="-80" dirty="0">
                <a:latin typeface="Tahoma"/>
                <a:cs typeface="Tahoma"/>
              </a:rPr>
              <a:t> </a:t>
            </a:r>
            <a:r>
              <a:rPr sz="1100" b="1" spc="-75" dirty="0">
                <a:latin typeface="Tahoma"/>
                <a:cs typeface="Tahoma"/>
              </a:rPr>
              <a:t>trabajadores</a:t>
            </a:r>
            <a:r>
              <a:rPr sz="1100" b="1" spc="-6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(A,</a:t>
            </a:r>
            <a:r>
              <a:rPr sz="1100" spc="-1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B,</a:t>
            </a:r>
            <a:r>
              <a:rPr sz="1100" spc="-11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C)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y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b="1" spc="-120" dirty="0">
                <a:latin typeface="Tahoma"/>
                <a:cs typeface="Tahoma"/>
              </a:rPr>
              <a:t>3</a:t>
            </a:r>
            <a:r>
              <a:rPr sz="1100" b="1" spc="-85" dirty="0">
                <a:latin typeface="Tahoma"/>
                <a:cs typeface="Tahoma"/>
              </a:rPr>
              <a:t> </a:t>
            </a:r>
            <a:r>
              <a:rPr sz="1100" b="1" spc="-60" dirty="0">
                <a:latin typeface="Tahoma"/>
                <a:cs typeface="Tahoma"/>
              </a:rPr>
              <a:t>tareas</a:t>
            </a:r>
            <a:r>
              <a:rPr sz="1100" b="1" spc="-6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(T1,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T2,</a:t>
            </a:r>
            <a:r>
              <a:rPr sz="1100" spc="-11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T3).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El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costo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asignar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cada </a:t>
            </a:r>
            <a:r>
              <a:rPr sz="1100" spc="-25" dirty="0">
                <a:latin typeface="Tahoma"/>
                <a:cs typeface="Tahoma"/>
              </a:rPr>
              <a:t>trabajador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cada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tarea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es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el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siguiente: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1100" dirty="0">
                <a:latin typeface="Tahoma"/>
                <a:cs typeface="Tahoma"/>
              </a:rPr>
              <a:t>Resultado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en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PomQm: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8120" y="3679063"/>
            <a:ext cx="134937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Tahoma"/>
                <a:cs typeface="Tahoma"/>
              </a:rPr>
              <a:t>Resultado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en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Rstudio: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8120" y="5954648"/>
            <a:ext cx="5502910" cy="9499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50" dirty="0">
                <a:latin typeface="Tahoma"/>
                <a:cs typeface="Tahoma"/>
              </a:rPr>
              <a:t>Ejercicio</a:t>
            </a:r>
            <a:r>
              <a:rPr sz="1100" b="1" spc="-55" dirty="0">
                <a:latin typeface="Tahoma"/>
                <a:cs typeface="Tahoma"/>
              </a:rPr>
              <a:t> </a:t>
            </a:r>
            <a:r>
              <a:rPr sz="1100" b="1" spc="-105" dirty="0">
                <a:latin typeface="Tahoma"/>
                <a:cs typeface="Tahoma"/>
              </a:rPr>
              <a:t>2:</a:t>
            </a:r>
            <a:r>
              <a:rPr sz="1100" b="1" spc="-55" dirty="0">
                <a:latin typeface="Tahoma"/>
                <a:cs typeface="Tahoma"/>
              </a:rPr>
              <a:t> </a:t>
            </a:r>
            <a:r>
              <a:rPr sz="1100" b="1" spc="-60" dirty="0">
                <a:latin typeface="Tahoma"/>
                <a:cs typeface="Tahoma"/>
              </a:rPr>
              <a:t>Asignación</a:t>
            </a:r>
            <a:r>
              <a:rPr sz="1100" b="1" spc="-80" dirty="0">
                <a:latin typeface="Tahoma"/>
                <a:cs typeface="Tahoma"/>
              </a:rPr>
              <a:t> </a:t>
            </a:r>
            <a:r>
              <a:rPr sz="1100" b="1" spc="-55" dirty="0">
                <a:latin typeface="Tahoma"/>
                <a:cs typeface="Tahoma"/>
              </a:rPr>
              <a:t>de</a:t>
            </a:r>
            <a:r>
              <a:rPr sz="1100" b="1" spc="-60" dirty="0">
                <a:latin typeface="Tahoma"/>
                <a:cs typeface="Tahoma"/>
              </a:rPr>
              <a:t> máquinas</a:t>
            </a:r>
            <a:r>
              <a:rPr sz="1100" b="1" spc="-80" dirty="0">
                <a:latin typeface="Tahoma"/>
                <a:cs typeface="Tahoma"/>
              </a:rPr>
              <a:t> </a:t>
            </a:r>
            <a:r>
              <a:rPr sz="1100" b="1" spc="-65" dirty="0">
                <a:latin typeface="Tahoma"/>
                <a:cs typeface="Tahoma"/>
              </a:rPr>
              <a:t>a</a:t>
            </a:r>
            <a:r>
              <a:rPr sz="1100" b="1" spc="-55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ahoma"/>
                <a:cs typeface="Tahoma"/>
              </a:rPr>
              <a:t>productos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1100" b="1" spc="-10" dirty="0">
                <a:latin typeface="Tahoma"/>
                <a:cs typeface="Tahoma"/>
              </a:rPr>
              <a:t>Enunciado: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10000"/>
              </a:lnSpc>
              <a:spcBef>
                <a:spcPts val="790"/>
              </a:spcBef>
            </a:pPr>
            <a:r>
              <a:rPr sz="1100" dirty="0">
                <a:latin typeface="Tahoma"/>
                <a:cs typeface="Tahoma"/>
              </a:rPr>
              <a:t>Una</a:t>
            </a:r>
            <a:r>
              <a:rPr sz="1100" spc="-1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fábrica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tiene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b="1" spc="-120" dirty="0">
                <a:latin typeface="Tahoma"/>
                <a:cs typeface="Tahoma"/>
              </a:rPr>
              <a:t>3</a:t>
            </a:r>
            <a:r>
              <a:rPr sz="1100" b="1" spc="-85" dirty="0">
                <a:latin typeface="Tahoma"/>
                <a:cs typeface="Tahoma"/>
              </a:rPr>
              <a:t> </a:t>
            </a:r>
            <a:r>
              <a:rPr sz="1100" b="1" spc="-60" dirty="0">
                <a:latin typeface="Tahoma"/>
                <a:cs typeface="Tahoma"/>
              </a:rPr>
              <a:t>máquinas</a:t>
            </a:r>
            <a:r>
              <a:rPr sz="1100" b="1" spc="-80" dirty="0">
                <a:latin typeface="Tahoma"/>
                <a:cs typeface="Tahoma"/>
              </a:rPr>
              <a:t> </a:t>
            </a:r>
            <a:r>
              <a:rPr sz="1100" b="1" spc="-110" dirty="0">
                <a:latin typeface="Tahoma"/>
                <a:cs typeface="Tahoma"/>
              </a:rPr>
              <a:t>(M1,</a:t>
            </a:r>
            <a:r>
              <a:rPr sz="1100" b="1" spc="-80" dirty="0">
                <a:latin typeface="Tahoma"/>
                <a:cs typeface="Tahoma"/>
              </a:rPr>
              <a:t> </a:t>
            </a:r>
            <a:r>
              <a:rPr sz="1100" b="1" spc="-85" dirty="0">
                <a:latin typeface="Tahoma"/>
                <a:cs typeface="Tahoma"/>
              </a:rPr>
              <a:t>M2,</a:t>
            </a:r>
            <a:r>
              <a:rPr sz="1100" b="1" spc="-80" dirty="0">
                <a:latin typeface="Tahoma"/>
                <a:cs typeface="Tahoma"/>
              </a:rPr>
              <a:t> </a:t>
            </a:r>
            <a:r>
              <a:rPr sz="1100" b="1" spc="-135" dirty="0">
                <a:latin typeface="Tahoma"/>
                <a:cs typeface="Tahoma"/>
              </a:rPr>
              <a:t>M3)</a:t>
            </a:r>
            <a:r>
              <a:rPr sz="1100" b="1" spc="-8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y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b="1" spc="-120" dirty="0">
                <a:latin typeface="Tahoma"/>
                <a:cs typeface="Tahoma"/>
              </a:rPr>
              <a:t>3</a:t>
            </a:r>
            <a:r>
              <a:rPr sz="1100" b="1" spc="-90" dirty="0">
                <a:latin typeface="Tahoma"/>
                <a:cs typeface="Tahoma"/>
              </a:rPr>
              <a:t> </a:t>
            </a:r>
            <a:r>
              <a:rPr sz="1100" b="1" spc="-55" dirty="0">
                <a:latin typeface="Tahoma"/>
                <a:cs typeface="Tahoma"/>
              </a:rPr>
              <a:t>productos</a:t>
            </a:r>
            <a:r>
              <a:rPr sz="1100" b="1" spc="-75" dirty="0">
                <a:latin typeface="Tahoma"/>
                <a:cs typeface="Tahoma"/>
              </a:rPr>
              <a:t> </a:t>
            </a:r>
            <a:r>
              <a:rPr sz="1100" b="1" spc="-105" dirty="0">
                <a:latin typeface="Tahoma"/>
                <a:cs typeface="Tahoma"/>
              </a:rPr>
              <a:t>(P1,</a:t>
            </a:r>
            <a:r>
              <a:rPr sz="1100" b="1" spc="-80" dirty="0">
                <a:latin typeface="Tahoma"/>
                <a:cs typeface="Tahoma"/>
              </a:rPr>
              <a:t> </a:t>
            </a:r>
            <a:r>
              <a:rPr sz="1100" b="1" spc="-70" dirty="0">
                <a:latin typeface="Tahoma"/>
                <a:cs typeface="Tahoma"/>
              </a:rPr>
              <a:t>P2,</a:t>
            </a:r>
            <a:r>
              <a:rPr sz="1100" b="1" spc="-80" dirty="0">
                <a:latin typeface="Tahoma"/>
                <a:cs typeface="Tahoma"/>
              </a:rPr>
              <a:t> </a:t>
            </a:r>
            <a:r>
              <a:rPr sz="1100" b="1" spc="-100" dirty="0">
                <a:latin typeface="Tahoma"/>
                <a:cs typeface="Tahoma"/>
              </a:rPr>
              <a:t>P3)</a:t>
            </a:r>
            <a:r>
              <a:rPr sz="1100" spc="-100" dirty="0">
                <a:latin typeface="Tahoma"/>
                <a:cs typeface="Tahoma"/>
              </a:rPr>
              <a:t>.</a:t>
            </a:r>
            <a:r>
              <a:rPr sz="1100" spc="-1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El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tiempo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(en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horas) </a:t>
            </a:r>
            <a:r>
              <a:rPr sz="1100" dirty="0">
                <a:latin typeface="Tahoma"/>
                <a:cs typeface="Tahoma"/>
              </a:rPr>
              <a:t>que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cada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máquina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tarda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en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producir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un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producto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es: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0135" y="2528442"/>
            <a:ext cx="3476752" cy="105663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0135" y="3985895"/>
            <a:ext cx="4103116" cy="187515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2039" y="7018273"/>
            <a:ext cx="5612130" cy="97472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80135" y="8183689"/>
            <a:ext cx="4152519" cy="17379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8120" y="877570"/>
            <a:ext cx="5450840" cy="94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50" dirty="0">
                <a:latin typeface="Tahoma"/>
                <a:cs typeface="Tahoma"/>
              </a:rPr>
              <a:t>Ejercicio</a:t>
            </a:r>
            <a:r>
              <a:rPr sz="1100" b="1" spc="-55" dirty="0">
                <a:latin typeface="Tahoma"/>
                <a:cs typeface="Tahoma"/>
              </a:rPr>
              <a:t> </a:t>
            </a:r>
            <a:r>
              <a:rPr sz="1100" b="1" spc="-105" dirty="0">
                <a:latin typeface="Tahoma"/>
                <a:cs typeface="Tahoma"/>
              </a:rPr>
              <a:t>3:</a:t>
            </a:r>
            <a:r>
              <a:rPr sz="1100" b="1" spc="-55" dirty="0">
                <a:latin typeface="Tahoma"/>
                <a:cs typeface="Tahoma"/>
              </a:rPr>
              <a:t> </a:t>
            </a:r>
            <a:r>
              <a:rPr sz="1100" b="1" spc="-60" dirty="0">
                <a:latin typeface="Tahoma"/>
                <a:cs typeface="Tahoma"/>
              </a:rPr>
              <a:t>Asignación</a:t>
            </a:r>
            <a:r>
              <a:rPr sz="1100" b="1" spc="-80" dirty="0">
                <a:latin typeface="Tahoma"/>
                <a:cs typeface="Tahoma"/>
              </a:rPr>
              <a:t> </a:t>
            </a:r>
            <a:r>
              <a:rPr sz="1100" b="1" spc="-55" dirty="0">
                <a:latin typeface="Tahoma"/>
                <a:cs typeface="Tahoma"/>
              </a:rPr>
              <a:t>de</a:t>
            </a:r>
            <a:r>
              <a:rPr sz="1100" b="1" spc="-60" dirty="0">
                <a:latin typeface="Tahoma"/>
                <a:cs typeface="Tahoma"/>
              </a:rPr>
              <a:t> </a:t>
            </a:r>
            <a:r>
              <a:rPr sz="1100" b="1" spc="-55" dirty="0">
                <a:latin typeface="Tahoma"/>
                <a:cs typeface="Tahoma"/>
              </a:rPr>
              <a:t>profesores</a:t>
            </a:r>
            <a:r>
              <a:rPr sz="1100" b="1" spc="-75" dirty="0">
                <a:latin typeface="Tahoma"/>
                <a:cs typeface="Tahoma"/>
              </a:rPr>
              <a:t> </a:t>
            </a:r>
            <a:r>
              <a:rPr sz="1100" b="1" spc="-65" dirty="0">
                <a:latin typeface="Tahoma"/>
                <a:cs typeface="Tahoma"/>
              </a:rPr>
              <a:t>a</a:t>
            </a:r>
            <a:r>
              <a:rPr sz="1100" b="1" spc="-55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ahoma"/>
                <a:cs typeface="Tahoma"/>
              </a:rPr>
              <a:t>cursos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100" b="1" spc="-10" dirty="0">
                <a:latin typeface="Tahoma"/>
                <a:cs typeface="Tahoma"/>
              </a:rPr>
              <a:t>Enunciado: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10000"/>
              </a:lnSpc>
              <a:spcBef>
                <a:spcPts val="790"/>
              </a:spcBef>
            </a:pPr>
            <a:r>
              <a:rPr sz="1100" dirty="0">
                <a:latin typeface="Tahoma"/>
                <a:cs typeface="Tahoma"/>
              </a:rPr>
              <a:t>Una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universidad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tiene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b="1" spc="-120" dirty="0">
                <a:latin typeface="Tahoma"/>
                <a:cs typeface="Tahoma"/>
              </a:rPr>
              <a:t>3</a:t>
            </a:r>
            <a:r>
              <a:rPr sz="1100" b="1" spc="-65" dirty="0">
                <a:latin typeface="Tahoma"/>
                <a:cs typeface="Tahoma"/>
              </a:rPr>
              <a:t> </a:t>
            </a:r>
            <a:r>
              <a:rPr sz="1100" b="1" spc="-55" dirty="0">
                <a:latin typeface="Tahoma"/>
                <a:cs typeface="Tahoma"/>
              </a:rPr>
              <a:t>profesores</a:t>
            </a:r>
            <a:r>
              <a:rPr sz="1100" b="1" spc="-7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(P1,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P2,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P3)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y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b="1" spc="-120" dirty="0">
                <a:latin typeface="Tahoma"/>
                <a:cs typeface="Tahoma"/>
              </a:rPr>
              <a:t>3</a:t>
            </a:r>
            <a:r>
              <a:rPr sz="1100" b="1" spc="-90" dirty="0">
                <a:latin typeface="Tahoma"/>
                <a:cs typeface="Tahoma"/>
              </a:rPr>
              <a:t> </a:t>
            </a:r>
            <a:r>
              <a:rPr sz="1100" b="1" spc="-40" dirty="0">
                <a:latin typeface="Tahoma"/>
                <a:cs typeface="Tahoma"/>
              </a:rPr>
              <a:t>cursos</a:t>
            </a:r>
            <a:r>
              <a:rPr sz="1100" b="1" spc="-7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(C1,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C2,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C3).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"preferencia"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(a </a:t>
            </a:r>
            <a:r>
              <a:rPr sz="1100" spc="-10" dirty="0">
                <a:latin typeface="Tahoma"/>
                <a:cs typeface="Tahoma"/>
              </a:rPr>
              <a:t>menor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número,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mayor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preferencia)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está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dada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por: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8120" y="5061330"/>
            <a:ext cx="5546090" cy="9499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50" dirty="0">
                <a:latin typeface="Tahoma"/>
                <a:cs typeface="Tahoma"/>
              </a:rPr>
              <a:t>Ejercicio </a:t>
            </a:r>
            <a:r>
              <a:rPr sz="1100" b="1" spc="-105" dirty="0">
                <a:latin typeface="Tahoma"/>
                <a:cs typeface="Tahoma"/>
              </a:rPr>
              <a:t>4:</a:t>
            </a:r>
            <a:r>
              <a:rPr sz="1100" b="1" spc="-45" dirty="0">
                <a:latin typeface="Tahoma"/>
                <a:cs typeface="Tahoma"/>
              </a:rPr>
              <a:t> </a:t>
            </a:r>
            <a:r>
              <a:rPr sz="1100" b="1" spc="-60" dirty="0">
                <a:latin typeface="Tahoma"/>
                <a:cs typeface="Tahoma"/>
              </a:rPr>
              <a:t>Asignación</a:t>
            </a:r>
            <a:r>
              <a:rPr sz="1100" b="1" spc="-70" dirty="0">
                <a:latin typeface="Tahoma"/>
                <a:cs typeface="Tahoma"/>
              </a:rPr>
              <a:t> </a:t>
            </a:r>
            <a:r>
              <a:rPr sz="1100" b="1" spc="-55" dirty="0">
                <a:latin typeface="Tahoma"/>
                <a:cs typeface="Tahoma"/>
              </a:rPr>
              <a:t>de</a:t>
            </a:r>
            <a:r>
              <a:rPr sz="1100" b="1" spc="-50" dirty="0">
                <a:latin typeface="Tahoma"/>
                <a:cs typeface="Tahoma"/>
              </a:rPr>
              <a:t> </a:t>
            </a:r>
            <a:r>
              <a:rPr sz="1100" b="1" spc="-65" dirty="0">
                <a:latin typeface="Tahoma"/>
                <a:cs typeface="Tahoma"/>
              </a:rPr>
              <a:t>repartidores</a:t>
            </a:r>
            <a:r>
              <a:rPr sz="1100" b="1" spc="-70" dirty="0">
                <a:latin typeface="Tahoma"/>
                <a:cs typeface="Tahoma"/>
              </a:rPr>
              <a:t> </a:t>
            </a:r>
            <a:r>
              <a:rPr sz="1100" b="1" spc="-65" dirty="0">
                <a:latin typeface="Tahoma"/>
                <a:cs typeface="Tahoma"/>
              </a:rPr>
              <a:t>a</a:t>
            </a:r>
            <a:r>
              <a:rPr sz="1100" b="1" spc="-45" dirty="0">
                <a:latin typeface="Tahoma"/>
                <a:cs typeface="Tahoma"/>
              </a:rPr>
              <a:t> </a:t>
            </a:r>
            <a:r>
              <a:rPr sz="1100" b="1" spc="-20" dirty="0">
                <a:latin typeface="Tahoma"/>
                <a:cs typeface="Tahoma"/>
              </a:rPr>
              <a:t>rutas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1100" b="1" spc="-10" dirty="0">
                <a:latin typeface="Tahoma"/>
                <a:cs typeface="Tahoma"/>
              </a:rPr>
              <a:t>Enunciado: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10000"/>
              </a:lnSpc>
              <a:spcBef>
                <a:spcPts val="790"/>
              </a:spcBef>
            </a:pPr>
            <a:r>
              <a:rPr sz="1100" dirty="0">
                <a:latin typeface="Tahoma"/>
                <a:cs typeface="Tahoma"/>
              </a:rPr>
              <a:t>Una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empresa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entregas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tiene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b="1" spc="-120" dirty="0">
                <a:latin typeface="Tahoma"/>
                <a:cs typeface="Tahoma"/>
              </a:rPr>
              <a:t>3</a:t>
            </a:r>
            <a:r>
              <a:rPr sz="1100" b="1" spc="-70" dirty="0">
                <a:latin typeface="Tahoma"/>
                <a:cs typeface="Tahoma"/>
              </a:rPr>
              <a:t> </a:t>
            </a:r>
            <a:r>
              <a:rPr sz="1100" b="1" spc="-65" dirty="0">
                <a:latin typeface="Tahoma"/>
                <a:cs typeface="Tahoma"/>
              </a:rPr>
              <a:t>repartidores</a:t>
            </a:r>
            <a:r>
              <a:rPr sz="1100" b="1" spc="-7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y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b="1" spc="-120" dirty="0">
                <a:latin typeface="Tahoma"/>
                <a:cs typeface="Tahoma"/>
              </a:rPr>
              <a:t>3</a:t>
            </a:r>
            <a:r>
              <a:rPr sz="1100" b="1" spc="-70" dirty="0">
                <a:latin typeface="Tahoma"/>
                <a:cs typeface="Tahoma"/>
              </a:rPr>
              <a:t> </a:t>
            </a:r>
            <a:r>
              <a:rPr sz="1100" b="1" spc="-55" dirty="0">
                <a:latin typeface="Tahoma"/>
                <a:cs typeface="Tahoma"/>
              </a:rPr>
              <a:t>rutas</a:t>
            </a:r>
            <a:r>
              <a:rPr sz="1100" spc="-55" dirty="0">
                <a:latin typeface="Tahoma"/>
                <a:cs typeface="Tahoma"/>
              </a:rPr>
              <a:t>.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El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costo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enviar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cada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repartidor en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cada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ruta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es: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0135" y="3093466"/>
            <a:ext cx="4357370" cy="186562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3939" y="1950847"/>
            <a:ext cx="5612130" cy="9899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2039" y="6065392"/>
            <a:ext cx="5612130" cy="101028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72514" y="7345515"/>
            <a:ext cx="5612130" cy="23971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8120" y="1164082"/>
            <a:ext cx="5393055" cy="948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sz="1100" b="1" spc="-50" dirty="0">
                <a:latin typeface="Tahoma"/>
                <a:cs typeface="Tahoma"/>
              </a:rPr>
              <a:t>Ejercicio</a:t>
            </a:r>
            <a:r>
              <a:rPr sz="1100" b="1" spc="-65" dirty="0">
                <a:latin typeface="Tahoma"/>
                <a:cs typeface="Tahoma"/>
              </a:rPr>
              <a:t> </a:t>
            </a:r>
            <a:r>
              <a:rPr sz="1100" b="1" spc="-100" dirty="0">
                <a:latin typeface="Tahoma"/>
                <a:cs typeface="Tahoma"/>
              </a:rPr>
              <a:t>5:</a:t>
            </a:r>
            <a:r>
              <a:rPr sz="1100" b="1" spc="-60" dirty="0">
                <a:latin typeface="Tahoma"/>
                <a:cs typeface="Tahoma"/>
              </a:rPr>
              <a:t> Asignación</a:t>
            </a:r>
            <a:r>
              <a:rPr sz="1100" b="1" spc="-70" dirty="0">
                <a:latin typeface="Tahoma"/>
                <a:cs typeface="Tahoma"/>
              </a:rPr>
              <a:t> </a:t>
            </a:r>
            <a:r>
              <a:rPr sz="1100" b="1" spc="-50" dirty="0">
                <a:latin typeface="Tahoma"/>
                <a:cs typeface="Tahoma"/>
              </a:rPr>
              <a:t>de</a:t>
            </a:r>
            <a:r>
              <a:rPr sz="1100" b="1" spc="-55" dirty="0">
                <a:latin typeface="Tahoma"/>
                <a:cs typeface="Tahoma"/>
              </a:rPr>
              <a:t> diseñadores</a:t>
            </a:r>
            <a:r>
              <a:rPr sz="1100" b="1" spc="-60" dirty="0">
                <a:latin typeface="Tahoma"/>
                <a:cs typeface="Tahoma"/>
              </a:rPr>
              <a:t> </a:t>
            </a:r>
            <a:r>
              <a:rPr sz="1100" b="1" spc="-65" dirty="0">
                <a:latin typeface="Tahoma"/>
                <a:cs typeface="Tahoma"/>
              </a:rPr>
              <a:t>a </a:t>
            </a:r>
            <a:r>
              <a:rPr sz="1100" b="1" spc="-10" dirty="0">
                <a:latin typeface="Tahoma"/>
                <a:cs typeface="Tahoma"/>
              </a:rPr>
              <a:t>proyectos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100" b="1" spc="-10" dirty="0">
                <a:latin typeface="Tahoma"/>
                <a:cs typeface="Tahoma"/>
              </a:rPr>
              <a:t>Enunciado: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9100"/>
              </a:lnSpc>
              <a:spcBef>
                <a:spcPts val="815"/>
              </a:spcBef>
            </a:pPr>
            <a:r>
              <a:rPr sz="1100" dirty="0">
                <a:latin typeface="Tahoma"/>
                <a:cs typeface="Tahoma"/>
              </a:rPr>
              <a:t>Una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agencia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tiene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b="1" spc="-120" dirty="0">
                <a:latin typeface="Tahoma"/>
                <a:cs typeface="Tahoma"/>
              </a:rPr>
              <a:t>3</a:t>
            </a:r>
            <a:r>
              <a:rPr sz="1100" b="1" spc="-70" dirty="0">
                <a:latin typeface="Tahoma"/>
                <a:cs typeface="Tahoma"/>
              </a:rPr>
              <a:t> </a:t>
            </a:r>
            <a:r>
              <a:rPr sz="1100" b="1" spc="-55" dirty="0">
                <a:latin typeface="Tahoma"/>
                <a:cs typeface="Tahoma"/>
              </a:rPr>
              <a:t>diseñadores</a:t>
            </a:r>
            <a:r>
              <a:rPr sz="1100" b="1" spc="-6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y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b="1" spc="-120" dirty="0">
                <a:latin typeface="Tahoma"/>
                <a:cs typeface="Tahoma"/>
              </a:rPr>
              <a:t>3</a:t>
            </a:r>
            <a:r>
              <a:rPr sz="1100" b="1" spc="-60" dirty="0">
                <a:latin typeface="Tahoma"/>
                <a:cs typeface="Tahoma"/>
              </a:rPr>
              <a:t> proyectos</a:t>
            </a:r>
            <a:r>
              <a:rPr sz="1100" spc="-60" dirty="0">
                <a:latin typeface="Tahoma"/>
                <a:cs typeface="Tahoma"/>
              </a:rPr>
              <a:t>.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El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costo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estimado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cada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diseñador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por </a:t>
            </a:r>
            <a:r>
              <a:rPr sz="1100" spc="-10" dirty="0">
                <a:latin typeface="Tahoma"/>
                <a:cs typeface="Tahoma"/>
              </a:rPr>
              <a:t>proyecto</a:t>
            </a:r>
            <a:r>
              <a:rPr sz="1100" spc="-1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es: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0135" y="2226513"/>
            <a:ext cx="5612129" cy="98023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0135" y="3893820"/>
            <a:ext cx="5612129" cy="24193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8120" y="877569"/>
            <a:ext cx="5541645" cy="1517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95" dirty="0">
                <a:latin typeface="Tahoma"/>
                <a:cs typeface="Tahoma"/>
              </a:rPr>
              <a:t>EJERCICIOS</a:t>
            </a:r>
            <a:r>
              <a:rPr sz="1200" b="1" spc="-85" dirty="0">
                <a:latin typeface="Tahoma"/>
                <a:cs typeface="Tahoma"/>
              </a:rPr>
              <a:t> </a:t>
            </a:r>
            <a:r>
              <a:rPr sz="1200" b="1" spc="-70" dirty="0">
                <a:latin typeface="Tahoma"/>
                <a:cs typeface="Tahoma"/>
              </a:rPr>
              <a:t>DE</a:t>
            </a:r>
            <a:r>
              <a:rPr sz="1200" b="1" spc="-85" dirty="0">
                <a:latin typeface="Tahoma"/>
                <a:cs typeface="Tahoma"/>
              </a:rPr>
              <a:t> </a:t>
            </a:r>
            <a:r>
              <a:rPr sz="1200" b="1" spc="-80" dirty="0">
                <a:latin typeface="Tahoma"/>
                <a:cs typeface="Tahoma"/>
              </a:rPr>
              <a:t>LA</a:t>
            </a:r>
            <a:r>
              <a:rPr sz="1200" b="1" spc="-90" dirty="0">
                <a:latin typeface="Tahoma"/>
                <a:cs typeface="Tahoma"/>
              </a:rPr>
              <a:t> </a:t>
            </a:r>
            <a:r>
              <a:rPr sz="1200" b="1" spc="-120" dirty="0">
                <a:latin typeface="Tahoma"/>
                <a:cs typeface="Tahoma"/>
              </a:rPr>
              <a:t>RUTA</a:t>
            </a:r>
            <a:r>
              <a:rPr sz="1200" b="1" spc="-85" dirty="0">
                <a:latin typeface="Tahoma"/>
                <a:cs typeface="Tahoma"/>
              </a:rPr>
              <a:t> </a:t>
            </a:r>
            <a:r>
              <a:rPr sz="1200" b="1" spc="-90" dirty="0">
                <a:latin typeface="Tahoma"/>
                <a:cs typeface="Tahoma"/>
              </a:rPr>
              <a:t>MAS</a:t>
            </a:r>
            <a:r>
              <a:rPr sz="1200" b="1" spc="-80" dirty="0">
                <a:latin typeface="Tahoma"/>
                <a:cs typeface="Tahoma"/>
              </a:rPr>
              <a:t> </a:t>
            </a:r>
            <a:r>
              <a:rPr sz="1200" b="1" spc="-95" dirty="0">
                <a:latin typeface="Tahoma"/>
                <a:cs typeface="Tahoma"/>
              </a:rPr>
              <a:t>CORTA</a:t>
            </a:r>
            <a:r>
              <a:rPr sz="1200" b="1" spc="-90" dirty="0">
                <a:latin typeface="Tahoma"/>
                <a:cs typeface="Tahoma"/>
              </a:rPr>
              <a:t> </a:t>
            </a:r>
            <a:r>
              <a:rPr sz="1200" b="1" spc="-70" dirty="0">
                <a:latin typeface="Tahoma"/>
                <a:cs typeface="Tahoma"/>
              </a:rPr>
              <a:t>EN</a:t>
            </a:r>
            <a:r>
              <a:rPr sz="1200" b="1" spc="-85" dirty="0">
                <a:latin typeface="Tahoma"/>
                <a:cs typeface="Tahoma"/>
              </a:rPr>
              <a:t> </a:t>
            </a:r>
            <a:r>
              <a:rPr sz="1200" b="1" spc="-80" dirty="0">
                <a:latin typeface="Tahoma"/>
                <a:cs typeface="Tahoma"/>
              </a:rPr>
              <a:t>POMQM </a:t>
            </a:r>
            <a:r>
              <a:rPr sz="1200" b="1" spc="-110" dirty="0">
                <a:latin typeface="Tahoma"/>
                <a:cs typeface="Tahoma"/>
              </a:rPr>
              <a:t>Y</a:t>
            </a:r>
            <a:r>
              <a:rPr sz="1200" b="1" spc="-85" dirty="0">
                <a:latin typeface="Tahoma"/>
                <a:cs typeface="Tahoma"/>
              </a:rPr>
              <a:t> </a:t>
            </a:r>
            <a:r>
              <a:rPr sz="1200" b="1" spc="-10" dirty="0">
                <a:latin typeface="Tahoma"/>
                <a:cs typeface="Tahoma"/>
              </a:rPr>
              <a:t>RSTUDIO</a:t>
            </a:r>
            <a:endParaRPr sz="1200">
              <a:latin typeface="Tahoma"/>
              <a:cs typeface="Tahoma"/>
            </a:endParaRPr>
          </a:p>
          <a:p>
            <a:pPr marL="12700" marR="2538730" indent="30480">
              <a:lnSpc>
                <a:spcPct val="165000"/>
              </a:lnSpc>
              <a:spcBef>
                <a:spcPts val="10"/>
              </a:spcBef>
            </a:pPr>
            <a:r>
              <a:rPr sz="1200" spc="-10" dirty="0">
                <a:latin typeface="Tahoma"/>
                <a:cs typeface="Tahoma"/>
              </a:rPr>
              <a:t>Ejemplo</a:t>
            </a:r>
            <a:r>
              <a:rPr sz="1200" spc="-95" dirty="0">
                <a:latin typeface="Tahoma"/>
                <a:cs typeface="Tahoma"/>
              </a:rPr>
              <a:t> </a:t>
            </a:r>
            <a:r>
              <a:rPr sz="1200" spc="-60" dirty="0">
                <a:latin typeface="Tahoma"/>
                <a:cs typeface="Tahoma"/>
              </a:rPr>
              <a:t>1:</a:t>
            </a:r>
            <a:r>
              <a:rPr sz="1200" spc="-8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Camino</a:t>
            </a:r>
            <a:r>
              <a:rPr sz="1200" spc="-9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más</a:t>
            </a:r>
            <a:r>
              <a:rPr sz="1200" spc="-8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corto</a:t>
            </a:r>
            <a:r>
              <a:rPr sz="1200" spc="-90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entre</a:t>
            </a:r>
            <a:r>
              <a:rPr sz="1200" spc="-9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ciudades Enunciado:</a:t>
            </a:r>
            <a:endParaRPr sz="1200">
              <a:latin typeface="Tahoma"/>
              <a:cs typeface="Tahoma"/>
            </a:endParaRPr>
          </a:p>
          <a:p>
            <a:pPr marL="12700" marR="5080">
              <a:lnSpc>
                <a:spcPct val="110000"/>
              </a:lnSpc>
            </a:pPr>
            <a:r>
              <a:rPr sz="1200" dirty="0">
                <a:latin typeface="Tahoma"/>
                <a:cs typeface="Tahoma"/>
              </a:rPr>
              <a:t>Una</a:t>
            </a:r>
            <a:r>
              <a:rPr sz="1200" spc="-10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empresa</a:t>
            </a:r>
            <a:r>
              <a:rPr sz="1200" spc="-10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quiere</a:t>
            </a:r>
            <a:r>
              <a:rPr sz="1200" spc="-90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enviar</a:t>
            </a:r>
            <a:r>
              <a:rPr sz="1200" spc="-8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productos</a:t>
            </a:r>
            <a:r>
              <a:rPr sz="1200" spc="-9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desde</a:t>
            </a:r>
            <a:r>
              <a:rPr sz="1200" spc="-9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la</a:t>
            </a:r>
            <a:r>
              <a:rPr sz="1200" spc="-8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Ciudad</a:t>
            </a:r>
            <a:r>
              <a:rPr sz="1200" spc="-100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A</a:t>
            </a:r>
            <a:r>
              <a:rPr sz="1200" spc="-9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hasta</a:t>
            </a:r>
            <a:r>
              <a:rPr sz="1200" spc="-8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la</a:t>
            </a:r>
            <a:r>
              <a:rPr sz="1200" spc="-8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Ciudad</a:t>
            </a:r>
            <a:r>
              <a:rPr sz="1200" spc="-100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D,</a:t>
            </a:r>
            <a:r>
              <a:rPr sz="1200" spc="-8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pasando por</a:t>
            </a:r>
            <a:r>
              <a:rPr sz="1200" spc="-10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ciudades</a:t>
            </a:r>
            <a:r>
              <a:rPr sz="1200" spc="-9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intermedias</a:t>
            </a:r>
            <a:r>
              <a:rPr sz="1200" spc="-9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B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200" spc="-60" dirty="0">
                <a:latin typeface="Tahoma"/>
                <a:cs typeface="Tahoma"/>
              </a:rPr>
              <a:t>y</a:t>
            </a:r>
            <a:r>
              <a:rPr sz="1200" spc="-10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C.</a:t>
            </a:r>
            <a:r>
              <a:rPr sz="1200" spc="-9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Determina</a:t>
            </a:r>
            <a:r>
              <a:rPr sz="1200" spc="-9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la</a:t>
            </a:r>
            <a:r>
              <a:rPr sz="1200" spc="-10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ruta</a:t>
            </a:r>
            <a:r>
              <a:rPr sz="1200" spc="-10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más</a:t>
            </a:r>
            <a:r>
              <a:rPr sz="1200" spc="-9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corta.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1200" spc="-30" dirty="0">
                <a:latin typeface="Tahoma"/>
                <a:cs typeface="Tahoma"/>
              </a:rPr>
              <a:t>Objetivo:</a:t>
            </a:r>
            <a:r>
              <a:rPr sz="1200" spc="-10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Encontrar</a:t>
            </a:r>
            <a:r>
              <a:rPr sz="1200" spc="-9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el</a:t>
            </a:r>
            <a:r>
              <a:rPr sz="1200" spc="-10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camino</a:t>
            </a:r>
            <a:r>
              <a:rPr sz="1200" spc="-10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más</a:t>
            </a:r>
            <a:r>
              <a:rPr sz="1200" spc="-8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corto</a:t>
            </a:r>
            <a:r>
              <a:rPr sz="1200" spc="-9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de</a:t>
            </a:r>
            <a:r>
              <a:rPr sz="1200" spc="-95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A</a:t>
            </a:r>
            <a:r>
              <a:rPr sz="1200" spc="-10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</a:t>
            </a:r>
            <a:r>
              <a:rPr sz="1200" spc="-8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D.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8120" y="5732145"/>
            <a:ext cx="5625465" cy="1214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ahoma"/>
                <a:cs typeface="Tahoma"/>
              </a:rPr>
              <a:t>Ejemplo</a:t>
            </a:r>
            <a:r>
              <a:rPr sz="1200" spc="-120" dirty="0">
                <a:latin typeface="Tahoma"/>
                <a:cs typeface="Tahoma"/>
              </a:rPr>
              <a:t> </a:t>
            </a:r>
            <a:r>
              <a:rPr sz="1200" spc="-60" dirty="0">
                <a:latin typeface="Tahoma"/>
                <a:cs typeface="Tahoma"/>
              </a:rPr>
              <a:t>2:</a:t>
            </a:r>
            <a:r>
              <a:rPr sz="1200" spc="-10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Red</a:t>
            </a:r>
            <a:r>
              <a:rPr sz="1200" spc="-1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de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estaciones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1200" spc="-10" dirty="0">
                <a:latin typeface="Tahoma"/>
                <a:cs typeface="Tahoma"/>
              </a:rPr>
              <a:t>Enunciado:</a:t>
            </a:r>
            <a:endParaRPr sz="1200">
              <a:latin typeface="Tahoma"/>
              <a:cs typeface="Tahoma"/>
            </a:endParaRPr>
          </a:p>
          <a:p>
            <a:pPr marL="12700" marR="5080">
              <a:lnSpc>
                <a:spcPts val="1580"/>
              </a:lnSpc>
              <a:spcBef>
                <a:spcPts val="70"/>
              </a:spcBef>
            </a:pPr>
            <a:r>
              <a:rPr sz="1200" dirty="0">
                <a:latin typeface="Tahoma"/>
                <a:cs typeface="Tahoma"/>
              </a:rPr>
              <a:t>Un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tren</a:t>
            </a:r>
            <a:r>
              <a:rPr sz="1200" spc="-9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conecta</a:t>
            </a:r>
            <a:r>
              <a:rPr sz="1200" spc="-9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estaciones</a:t>
            </a:r>
            <a:r>
              <a:rPr sz="1200" spc="-95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1,</a:t>
            </a:r>
            <a:r>
              <a:rPr sz="1200" spc="-95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2,</a:t>
            </a:r>
            <a:r>
              <a:rPr sz="1200" spc="-100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3,</a:t>
            </a:r>
            <a:r>
              <a:rPr sz="1200" spc="-9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4,</a:t>
            </a:r>
            <a:r>
              <a:rPr sz="1200" spc="-95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5.</a:t>
            </a:r>
            <a:r>
              <a:rPr sz="1200" spc="-9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Encuentra</a:t>
            </a:r>
            <a:r>
              <a:rPr sz="1200" spc="-10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el</a:t>
            </a:r>
            <a:r>
              <a:rPr sz="1200" spc="-10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camino</a:t>
            </a:r>
            <a:r>
              <a:rPr sz="1200" spc="-9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más</a:t>
            </a:r>
            <a:r>
              <a:rPr sz="1200" spc="-9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corto</a:t>
            </a:r>
            <a:r>
              <a:rPr sz="1200" spc="-10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de</a:t>
            </a:r>
            <a:r>
              <a:rPr sz="1200" spc="-10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la</a:t>
            </a:r>
            <a:r>
              <a:rPr sz="1200" spc="-9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estación </a:t>
            </a:r>
            <a:r>
              <a:rPr sz="1200" spc="-20" dirty="0">
                <a:latin typeface="Tahoma"/>
                <a:cs typeface="Tahoma"/>
              </a:rPr>
              <a:t>1</a:t>
            </a:r>
            <a:r>
              <a:rPr sz="1200" spc="-13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</a:t>
            </a:r>
            <a:r>
              <a:rPr sz="1200" spc="-12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5.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sz="1200" spc="-30" dirty="0">
                <a:latin typeface="Tahoma"/>
                <a:cs typeface="Tahoma"/>
              </a:rPr>
              <a:t>Objetivo:</a:t>
            </a:r>
            <a:r>
              <a:rPr sz="1200" spc="-10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Camino</a:t>
            </a:r>
            <a:r>
              <a:rPr sz="1200" spc="-8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más</a:t>
            </a:r>
            <a:r>
              <a:rPr sz="1200" spc="-9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corto</a:t>
            </a:r>
            <a:r>
              <a:rPr sz="1200" spc="-9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de</a:t>
            </a:r>
            <a:r>
              <a:rPr sz="1200" spc="-10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1</a:t>
            </a:r>
            <a:r>
              <a:rPr sz="1200" spc="-10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</a:t>
            </a:r>
            <a:r>
              <a:rPr sz="1200" spc="-9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5.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0135" y="2510789"/>
            <a:ext cx="4388358" cy="100647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0135" y="7062266"/>
            <a:ext cx="4235069" cy="100934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0135" y="3634740"/>
            <a:ext cx="4380230" cy="19621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80135" y="8199259"/>
            <a:ext cx="4524375" cy="17830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8120" y="877569"/>
            <a:ext cx="5013960" cy="1216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ahoma"/>
                <a:cs typeface="Tahoma"/>
              </a:rPr>
              <a:t>Ejemplo</a:t>
            </a:r>
            <a:r>
              <a:rPr sz="1200" spc="-120" dirty="0">
                <a:latin typeface="Tahoma"/>
                <a:cs typeface="Tahoma"/>
              </a:rPr>
              <a:t> </a:t>
            </a:r>
            <a:r>
              <a:rPr sz="1200" spc="-60" dirty="0">
                <a:latin typeface="Tahoma"/>
                <a:cs typeface="Tahoma"/>
              </a:rPr>
              <a:t>3:</a:t>
            </a:r>
            <a:r>
              <a:rPr sz="1200" spc="-10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Red</a:t>
            </a:r>
            <a:r>
              <a:rPr sz="1200" spc="-1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de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carreteras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1200" spc="-10" dirty="0">
                <a:latin typeface="Tahoma"/>
                <a:cs typeface="Tahoma"/>
              </a:rPr>
              <a:t>Enunciado:</a:t>
            </a:r>
            <a:endParaRPr sz="1200">
              <a:latin typeface="Tahoma"/>
              <a:cs typeface="Tahoma"/>
            </a:endParaRPr>
          </a:p>
          <a:p>
            <a:pPr marL="12700" marR="5080">
              <a:lnSpc>
                <a:spcPct val="109200"/>
              </a:lnSpc>
              <a:spcBef>
                <a:spcPts val="15"/>
              </a:spcBef>
            </a:pPr>
            <a:r>
              <a:rPr sz="1200" dirty="0">
                <a:latin typeface="Tahoma"/>
                <a:cs typeface="Tahoma"/>
              </a:rPr>
              <a:t>Un</a:t>
            </a:r>
            <a:r>
              <a:rPr sz="1200" spc="-10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coche</a:t>
            </a:r>
            <a:r>
              <a:rPr sz="1200" spc="-9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viaja</a:t>
            </a:r>
            <a:r>
              <a:rPr sz="1200" spc="-9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desde</a:t>
            </a:r>
            <a:r>
              <a:rPr sz="1200" spc="-90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A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hasta</a:t>
            </a:r>
            <a:r>
              <a:rPr sz="1200" spc="-9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E.</a:t>
            </a:r>
            <a:r>
              <a:rPr sz="1200" spc="-8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Las</a:t>
            </a:r>
            <a:r>
              <a:rPr sz="1200" spc="-8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carreteras</a:t>
            </a:r>
            <a:r>
              <a:rPr sz="1200" spc="-75" dirty="0">
                <a:latin typeface="Tahoma"/>
                <a:cs typeface="Tahoma"/>
              </a:rPr>
              <a:t> </a:t>
            </a:r>
            <a:r>
              <a:rPr sz="1200" spc="-60" dirty="0">
                <a:latin typeface="Tahoma"/>
                <a:cs typeface="Tahoma"/>
              </a:rPr>
              <a:t>y</a:t>
            </a:r>
            <a:r>
              <a:rPr sz="1200" spc="-10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sus</a:t>
            </a:r>
            <a:r>
              <a:rPr sz="1200" spc="-8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distancias</a:t>
            </a:r>
            <a:r>
              <a:rPr sz="1200" spc="-8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están</a:t>
            </a:r>
            <a:r>
              <a:rPr sz="1200" spc="-9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dadas. </a:t>
            </a:r>
            <a:r>
              <a:rPr sz="1200" spc="-20" dirty="0">
                <a:latin typeface="Tahoma"/>
                <a:cs typeface="Tahoma"/>
              </a:rPr>
              <a:t>Encuentra</a:t>
            </a:r>
            <a:r>
              <a:rPr sz="1200" spc="-9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la</a:t>
            </a:r>
            <a:r>
              <a:rPr sz="1200" spc="-8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ruta</a:t>
            </a:r>
            <a:r>
              <a:rPr sz="1200" spc="-9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más</a:t>
            </a:r>
            <a:r>
              <a:rPr sz="1200" spc="-7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corta.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1200" spc="-30" dirty="0">
                <a:latin typeface="Tahoma"/>
                <a:cs typeface="Tahoma"/>
              </a:rPr>
              <a:t>Objetivo: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Ruta</a:t>
            </a:r>
            <a:r>
              <a:rPr sz="1200" spc="-114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más</a:t>
            </a:r>
            <a:r>
              <a:rPr sz="1200" spc="-10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corta</a:t>
            </a:r>
            <a:r>
              <a:rPr sz="1200" spc="-114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de</a:t>
            </a:r>
            <a:r>
              <a:rPr sz="1200" spc="-105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A</a:t>
            </a:r>
            <a:r>
              <a:rPr sz="1200" spc="-114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</a:t>
            </a:r>
            <a:r>
              <a:rPr sz="1200" spc="-114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E.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8120" y="4975986"/>
            <a:ext cx="5544185" cy="1014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ahoma"/>
                <a:cs typeface="Tahoma"/>
              </a:rPr>
              <a:t>Ejemplo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200" spc="-60" dirty="0">
                <a:latin typeface="Tahoma"/>
                <a:cs typeface="Tahoma"/>
              </a:rPr>
              <a:t>4:</a:t>
            </a:r>
            <a:r>
              <a:rPr sz="1200" spc="-10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Red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escolar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1200" spc="-10" dirty="0">
                <a:latin typeface="Tahoma"/>
                <a:cs typeface="Tahoma"/>
              </a:rPr>
              <a:t>Enunciado: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00" dirty="0">
                <a:latin typeface="Tahoma"/>
                <a:cs typeface="Tahoma"/>
              </a:rPr>
              <a:t>Un</a:t>
            </a:r>
            <a:r>
              <a:rPr sz="1200" spc="-10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estudiante</a:t>
            </a:r>
            <a:r>
              <a:rPr sz="1200" spc="-8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quiere</a:t>
            </a:r>
            <a:r>
              <a:rPr sz="1200" spc="-9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ir</a:t>
            </a:r>
            <a:r>
              <a:rPr sz="1200" spc="-8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de</a:t>
            </a:r>
            <a:r>
              <a:rPr sz="1200" spc="-9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la</a:t>
            </a:r>
            <a:r>
              <a:rPr sz="1200" spc="-9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escuela</a:t>
            </a:r>
            <a:r>
              <a:rPr sz="1200" spc="-85" dirty="0">
                <a:latin typeface="Tahoma"/>
                <a:cs typeface="Tahoma"/>
              </a:rPr>
              <a:t> </a:t>
            </a:r>
            <a:r>
              <a:rPr sz="1200" spc="-80" dirty="0">
                <a:latin typeface="Tahoma"/>
                <a:cs typeface="Tahoma"/>
              </a:rPr>
              <a:t>(S)</a:t>
            </a:r>
            <a:r>
              <a:rPr sz="1200" spc="-9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al</a:t>
            </a:r>
            <a:r>
              <a:rPr sz="1200" spc="-7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laboratorio</a:t>
            </a:r>
            <a:r>
              <a:rPr sz="1200" spc="-80" dirty="0">
                <a:latin typeface="Tahoma"/>
                <a:cs typeface="Tahoma"/>
              </a:rPr>
              <a:t> </a:t>
            </a:r>
            <a:r>
              <a:rPr sz="1200" spc="-85" dirty="0">
                <a:latin typeface="Tahoma"/>
                <a:cs typeface="Tahoma"/>
              </a:rPr>
              <a:t>(L)</a:t>
            </a:r>
            <a:r>
              <a:rPr sz="1200" spc="-8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por</a:t>
            </a:r>
            <a:r>
              <a:rPr sz="1200" spc="-9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los</a:t>
            </a:r>
            <a:r>
              <a:rPr sz="1200" spc="-9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pasillos</a:t>
            </a:r>
            <a:r>
              <a:rPr sz="1200" spc="-9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más</a:t>
            </a:r>
            <a:r>
              <a:rPr sz="1200" spc="-8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cortos.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1200" spc="-30" dirty="0">
                <a:latin typeface="Tahoma"/>
                <a:cs typeface="Tahoma"/>
              </a:rPr>
              <a:t>Objetivo:</a:t>
            </a:r>
            <a:r>
              <a:rPr sz="1200" spc="-10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Camino</a:t>
            </a:r>
            <a:r>
              <a:rPr sz="1200" spc="-8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más</a:t>
            </a:r>
            <a:r>
              <a:rPr sz="1200" spc="-8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corto</a:t>
            </a:r>
            <a:r>
              <a:rPr sz="1200" spc="-9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de</a:t>
            </a:r>
            <a:r>
              <a:rPr sz="1200" spc="-9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S</a:t>
            </a:r>
            <a:r>
              <a:rPr sz="1200" spc="-9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</a:t>
            </a:r>
            <a:r>
              <a:rPr sz="1200" spc="-10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L.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0135" y="2208402"/>
            <a:ext cx="3249549" cy="85852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0135" y="6105271"/>
            <a:ext cx="3817492" cy="104012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0135" y="3192779"/>
            <a:ext cx="4525899" cy="18415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75360" y="7376045"/>
            <a:ext cx="5612129" cy="21990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8120" y="877569"/>
            <a:ext cx="4993640" cy="1216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ahoma"/>
                <a:cs typeface="Tahoma"/>
              </a:rPr>
              <a:t>Ejemplo</a:t>
            </a:r>
            <a:r>
              <a:rPr sz="1200" spc="-120" dirty="0">
                <a:latin typeface="Tahoma"/>
                <a:cs typeface="Tahoma"/>
              </a:rPr>
              <a:t> </a:t>
            </a:r>
            <a:r>
              <a:rPr sz="1200" spc="-60" dirty="0">
                <a:latin typeface="Tahoma"/>
                <a:cs typeface="Tahoma"/>
              </a:rPr>
              <a:t>5:</a:t>
            </a:r>
            <a:r>
              <a:rPr sz="1200" spc="-10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Red</a:t>
            </a:r>
            <a:r>
              <a:rPr sz="1200" spc="-1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de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mensajería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1200" spc="-10" dirty="0">
                <a:latin typeface="Tahoma"/>
                <a:cs typeface="Tahoma"/>
              </a:rPr>
              <a:t>Enunciado:</a:t>
            </a:r>
            <a:endParaRPr sz="1200">
              <a:latin typeface="Tahoma"/>
              <a:cs typeface="Tahoma"/>
            </a:endParaRPr>
          </a:p>
          <a:p>
            <a:pPr marL="12700" marR="5080">
              <a:lnSpc>
                <a:spcPct val="109200"/>
              </a:lnSpc>
              <a:spcBef>
                <a:spcPts val="15"/>
              </a:spcBef>
            </a:pPr>
            <a:r>
              <a:rPr sz="1200" dirty="0">
                <a:latin typeface="Tahoma"/>
                <a:cs typeface="Tahoma"/>
              </a:rPr>
              <a:t>Un</a:t>
            </a:r>
            <a:r>
              <a:rPr sz="1200" spc="-12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mensajero</a:t>
            </a:r>
            <a:r>
              <a:rPr sz="1200" spc="-12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parte</a:t>
            </a:r>
            <a:r>
              <a:rPr sz="1200" spc="-1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del</a:t>
            </a:r>
            <a:r>
              <a:rPr sz="1200" spc="-12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nodo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1</a:t>
            </a:r>
            <a:r>
              <a:rPr sz="1200" spc="-125" dirty="0">
                <a:latin typeface="Tahoma"/>
                <a:cs typeface="Tahoma"/>
              </a:rPr>
              <a:t> </a:t>
            </a:r>
            <a:r>
              <a:rPr sz="1200" spc="-60" dirty="0">
                <a:latin typeface="Tahoma"/>
                <a:cs typeface="Tahoma"/>
              </a:rPr>
              <a:t>y</a:t>
            </a:r>
            <a:r>
              <a:rPr sz="1200" spc="-1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debe</a:t>
            </a:r>
            <a:r>
              <a:rPr sz="1200" spc="-114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llegar</a:t>
            </a:r>
            <a:r>
              <a:rPr sz="1200" spc="-114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al</a:t>
            </a:r>
            <a:r>
              <a:rPr sz="1200" spc="-114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nodo</a:t>
            </a:r>
            <a:r>
              <a:rPr sz="1200" spc="-12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6</a:t>
            </a:r>
            <a:r>
              <a:rPr sz="1200" spc="-114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en</a:t>
            </a:r>
            <a:r>
              <a:rPr sz="1200" spc="-12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una</a:t>
            </a:r>
            <a:r>
              <a:rPr sz="1200" spc="-12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red</a:t>
            </a:r>
            <a:r>
              <a:rPr sz="1200" spc="-1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de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oficinas conectadas.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1200" spc="-30" dirty="0">
                <a:latin typeface="Tahoma"/>
                <a:cs typeface="Tahoma"/>
              </a:rPr>
              <a:t>Objetivo:</a:t>
            </a:r>
            <a:r>
              <a:rPr sz="1200" spc="-10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Camino</a:t>
            </a:r>
            <a:r>
              <a:rPr sz="1200" spc="-8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más</a:t>
            </a:r>
            <a:r>
              <a:rPr sz="1200" spc="-9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corto</a:t>
            </a:r>
            <a:r>
              <a:rPr sz="1200" spc="-9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de</a:t>
            </a:r>
            <a:r>
              <a:rPr sz="1200" spc="-10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1</a:t>
            </a:r>
            <a:r>
              <a:rPr sz="1200" spc="-10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</a:t>
            </a:r>
            <a:r>
              <a:rPr sz="1200" spc="-9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6.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0135" y="2208402"/>
            <a:ext cx="5612129" cy="157861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0135" y="4208271"/>
            <a:ext cx="5612129" cy="22390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8120" y="877569"/>
            <a:ext cx="5403850" cy="4479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95" dirty="0">
                <a:latin typeface="Tahoma"/>
                <a:cs typeface="Tahoma"/>
              </a:rPr>
              <a:t>EJERCICIOS</a:t>
            </a:r>
            <a:r>
              <a:rPr sz="1200" b="1" spc="-70" dirty="0">
                <a:latin typeface="Tahoma"/>
                <a:cs typeface="Tahoma"/>
              </a:rPr>
              <a:t> </a:t>
            </a:r>
            <a:r>
              <a:rPr sz="1200" b="1" spc="-75" dirty="0">
                <a:latin typeface="Tahoma"/>
                <a:cs typeface="Tahoma"/>
              </a:rPr>
              <a:t>DEL</a:t>
            </a:r>
            <a:r>
              <a:rPr sz="1200" b="1" spc="-70" dirty="0">
                <a:latin typeface="Tahoma"/>
                <a:cs typeface="Tahoma"/>
              </a:rPr>
              <a:t> </a:t>
            </a:r>
            <a:r>
              <a:rPr sz="1200" b="1" spc="-95" dirty="0">
                <a:latin typeface="Tahoma"/>
                <a:cs typeface="Tahoma"/>
              </a:rPr>
              <a:t>PROBLEMA</a:t>
            </a:r>
            <a:r>
              <a:rPr sz="1200" b="1" spc="-70" dirty="0">
                <a:latin typeface="Tahoma"/>
                <a:cs typeface="Tahoma"/>
              </a:rPr>
              <a:t> DE</a:t>
            </a:r>
            <a:r>
              <a:rPr sz="1200" b="1" spc="-65" dirty="0">
                <a:latin typeface="Tahoma"/>
                <a:cs typeface="Tahoma"/>
              </a:rPr>
              <a:t> </a:t>
            </a:r>
            <a:r>
              <a:rPr sz="1200" b="1" spc="-100" dirty="0">
                <a:latin typeface="Tahoma"/>
                <a:cs typeface="Tahoma"/>
              </a:rPr>
              <a:t>TRANSPORTE</a:t>
            </a:r>
            <a:r>
              <a:rPr sz="1200" b="1" spc="-75" dirty="0">
                <a:latin typeface="Tahoma"/>
                <a:cs typeface="Tahoma"/>
              </a:rPr>
              <a:t> </a:t>
            </a:r>
            <a:r>
              <a:rPr sz="1200" b="1" spc="-70" dirty="0">
                <a:latin typeface="Tahoma"/>
                <a:cs typeface="Tahoma"/>
              </a:rPr>
              <a:t>EN </a:t>
            </a:r>
            <a:r>
              <a:rPr sz="1200" b="1" spc="-110" dirty="0">
                <a:latin typeface="Tahoma"/>
                <a:cs typeface="Tahoma"/>
              </a:rPr>
              <a:t>RSTUDIO</a:t>
            </a:r>
            <a:r>
              <a:rPr sz="1200" b="1" spc="-65" dirty="0">
                <a:latin typeface="Tahoma"/>
                <a:cs typeface="Tahoma"/>
              </a:rPr>
              <a:t> </a:t>
            </a:r>
            <a:r>
              <a:rPr sz="1200" b="1" spc="-110" dirty="0">
                <a:latin typeface="Tahoma"/>
                <a:cs typeface="Tahoma"/>
              </a:rPr>
              <a:t>Y</a:t>
            </a:r>
            <a:r>
              <a:rPr sz="1200" b="1" spc="-65" dirty="0">
                <a:latin typeface="Tahoma"/>
                <a:cs typeface="Tahoma"/>
              </a:rPr>
              <a:t> </a:t>
            </a:r>
            <a:r>
              <a:rPr sz="1200" b="1" spc="-10" dirty="0">
                <a:latin typeface="Tahoma"/>
                <a:cs typeface="Tahoma"/>
              </a:rPr>
              <a:t>POMQM</a:t>
            </a:r>
            <a:endParaRPr sz="1200">
              <a:latin typeface="Tahoma"/>
              <a:cs typeface="Tahoma"/>
            </a:endParaRPr>
          </a:p>
          <a:p>
            <a:pPr marL="12700" marR="5080">
              <a:lnSpc>
                <a:spcPct val="110000"/>
              </a:lnSpc>
              <a:spcBef>
                <a:spcPts val="819"/>
              </a:spcBef>
            </a:pPr>
            <a:r>
              <a:rPr sz="1100" dirty="0">
                <a:latin typeface="Tahoma"/>
                <a:cs typeface="Tahoma"/>
              </a:rPr>
              <a:t>El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b="1" spc="-65" dirty="0">
                <a:latin typeface="Tahoma"/>
                <a:cs typeface="Tahoma"/>
              </a:rPr>
              <a:t>problema</a:t>
            </a:r>
            <a:r>
              <a:rPr sz="1100" b="1" spc="-50" dirty="0">
                <a:latin typeface="Tahoma"/>
                <a:cs typeface="Tahoma"/>
              </a:rPr>
              <a:t> de</a:t>
            </a:r>
            <a:r>
              <a:rPr sz="1100" b="1" spc="-55" dirty="0">
                <a:latin typeface="Tahoma"/>
                <a:cs typeface="Tahoma"/>
              </a:rPr>
              <a:t> </a:t>
            </a:r>
            <a:r>
              <a:rPr sz="1100" b="1" spc="-70" dirty="0">
                <a:latin typeface="Tahoma"/>
                <a:cs typeface="Tahoma"/>
              </a:rPr>
              <a:t>transporte</a:t>
            </a:r>
            <a:r>
              <a:rPr sz="1100" b="1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consiste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en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b="1" spc="-80" dirty="0">
                <a:latin typeface="Tahoma"/>
                <a:cs typeface="Tahoma"/>
              </a:rPr>
              <a:t>enviar</a:t>
            </a:r>
            <a:r>
              <a:rPr sz="1100" b="1" spc="-40" dirty="0">
                <a:latin typeface="Tahoma"/>
                <a:cs typeface="Tahoma"/>
              </a:rPr>
              <a:t> </a:t>
            </a:r>
            <a:r>
              <a:rPr sz="1100" b="1" spc="-55" dirty="0">
                <a:latin typeface="Tahoma"/>
                <a:cs typeface="Tahoma"/>
              </a:rPr>
              <a:t>productos</a:t>
            </a:r>
            <a:r>
              <a:rPr sz="1100" b="1" spc="-45" dirty="0">
                <a:latin typeface="Tahoma"/>
                <a:cs typeface="Tahoma"/>
              </a:rPr>
              <a:t> desde</a:t>
            </a:r>
            <a:r>
              <a:rPr sz="1100" b="1" spc="-55" dirty="0">
                <a:latin typeface="Tahoma"/>
                <a:cs typeface="Tahoma"/>
              </a:rPr>
              <a:t> unas</a:t>
            </a:r>
            <a:r>
              <a:rPr sz="1100" b="1" spc="-40" dirty="0">
                <a:latin typeface="Tahoma"/>
                <a:cs typeface="Tahoma"/>
              </a:rPr>
              <a:t> </a:t>
            </a:r>
            <a:r>
              <a:rPr sz="1100" b="1" spc="-55" dirty="0">
                <a:latin typeface="Tahoma"/>
                <a:cs typeface="Tahoma"/>
              </a:rPr>
              <a:t>fábricas</a:t>
            </a:r>
            <a:r>
              <a:rPr sz="1100" b="1" spc="-45" dirty="0">
                <a:latin typeface="Tahoma"/>
                <a:cs typeface="Tahoma"/>
              </a:rPr>
              <a:t> </a:t>
            </a:r>
            <a:r>
              <a:rPr sz="1100" b="1" spc="-110" dirty="0">
                <a:latin typeface="Tahoma"/>
                <a:cs typeface="Tahoma"/>
              </a:rPr>
              <a:t>(origen)</a:t>
            </a:r>
            <a:r>
              <a:rPr sz="1100" b="1" spc="-55" dirty="0">
                <a:latin typeface="Tahoma"/>
                <a:cs typeface="Tahoma"/>
              </a:rPr>
              <a:t> </a:t>
            </a:r>
            <a:r>
              <a:rPr sz="1100" b="1" spc="-50" dirty="0">
                <a:latin typeface="Tahoma"/>
                <a:cs typeface="Tahoma"/>
              </a:rPr>
              <a:t>a </a:t>
            </a:r>
            <a:r>
              <a:rPr sz="1100" b="1" spc="-55" dirty="0">
                <a:latin typeface="Tahoma"/>
                <a:cs typeface="Tahoma"/>
              </a:rPr>
              <a:t>unos</a:t>
            </a:r>
            <a:r>
              <a:rPr sz="1100" b="1" spc="-60" dirty="0">
                <a:latin typeface="Tahoma"/>
                <a:cs typeface="Tahoma"/>
              </a:rPr>
              <a:t> </a:t>
            </a:r>
            <a:r>
              <a:rPr sz="1100" b="1" spc="-50" dirty="0">
                <a:latin typeface="Tahoma"/>
                <a:cs typeface="Tahoma"/>
              </a:rPr>
              <a:t>almacenes</a:t>
            </a:r>
            <a:r>
              <a:rPr sz="1100" b="1" spc="-65" dirty="0">
                <a:latin typeface="Tahoma"/>
                <a:cs typeface="Tahoma"/>
              </a:rPr>
              <a:t> </a:t>
            </a:r>
            <a:r>
              <a:rPr sz="1100" b="1" spc="-85" dirty="0">
                <a:latin typeface="Tahoma"/>
                <a:cs typeface="Tahoma"/>
              </a:rPr>
              <a:t>(destino)</a:t>
            </a:r>
            <a:r>
              <a:rPr sz="1100" b="1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manera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que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b="1" spc="-30" dirty="0">
                <a:latin typeface="Tahoma"/>
                <a:cs typeface="Tahoma"/>
              </a:rPr>
              <a:t>el</a:t>
            </a:r>
            <a:r>
              <a:rPr sz="1100" b="1" spc="-55" dirty="0">
                <a:latin typeface="Tahoma"/>
                <a:cs typeface="Tahoma"/>
              </a:rPr>
              <a:t> </a:t>
            </a:r>
            <a:r>
              <a:rPr sz="1100" b="1" spc="-50" dirty="0">
                <a:latin typeface="Tahoma"/>
                <a:cs typeface="Tahoma"/>
              </a:rPr>
              <a:t>costo </a:t>
            </a:r>
            <a:r>
              <a:rPr sz="1100" b="1" spc="-65" dirty="0">
                <a:latin typeface="Tahoma"/>
                <a:cs typeface="Tahoma"/>
              </a:rPr>
              <a:t>total</a:t>
            </a:r>
            <a:r>
              <a:rPr sz="1100" b="1" spc="-70" dirty="0">
                <a:latin typeface="Tahoma"/>
                <a:cs typeface="Tahoma"/>
              </a:rPr>
              <a:t> </a:t>
            </a:r>
            <a:r>
              <a:rPr sz="1100" b="1" spc="-40" dirty="0">
                <a:latin typeface="Tahoma"/>
                <a:cs typeface="Tahoma"/>
              </a:rPr>
              <a:t>sea</a:t>
            </a:r>
            <a:r>
              <a:rPr sz="1100" b="1" spc="-70" dirty="0">
                <a:latin typeface="Tahoma"/>
                <a:cs typeface="Tahoma"/>
              </a:rPr>
              <a:t> </a:t>
            </a:r>
            <a:r>
              <a:rPr sz="1100" b="1" spc="-65" dirty="0">
                <a:latin typeface="Tahoma"/>
                <a:cs typeface="Tahoma"/>
              </a:rPr>
              <a:t>mínimo</a:t>
            </a:r>
            <a:r>
              <a:rPr sz="1100" spc="-65" dirty="0">
                <a:latin typeface="Tahoma"/>
                <a:cs typeface="Tahoma"/>
              </a:rPr>
              <a:t>,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cumpliendo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con:</a:t>
            </a:r>
            <a:endParaRPr sz="1100">
              <a:latin typeface="Tahoma"/>
              <a:cs typeface="Tahoma"/>
            </a:endParaRPr>
          </a:p>
          <a:p>
            <a:pPr marL="469265" indent="-228600">
              <a:lnSpc>
                <a:spcPct val="100000"/>
              </a:lnSpc>
              <a:spcBef>
                <a:spcPts val="92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dirty="0">
                <a:latin typeface="Tahoma"/>
                <a:cs typeface="Tahoma"/>
              </a:rPr>
              <a:t>La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b="1" spc="-70" dirty="0">
                <a:latin typeface="Tahoma"/>
                <a:cs typeface="Tahoma"/>
              </a:rPr>
              <a:t>oferta</a:t>
            </a:r>
            <a:r>
              <a:rPr sz="1100" b="1" spc="-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cada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fábrica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(lo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máximo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que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puede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enviar).</a:t>
            </a:r>
            <a:endParaRPr sz="1100">
              <a:latin typeface="Tahoma"/>
              <a:cs typeface="Tahoma"/>
            </a:endParaRPr>
          </a:p>
          <a:p>
            <a:pPr marL="12700" marR="1607820" indent="456565">
              <a:lnSpc>
                <a:spcPts val="2260"/>
              </a:lnSpc>
              <a:spcBef>
                <a:spcPts val="21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dirty="0">
                <a:latin typeface="Tahoma"/>
                <a:cs typeface="Tahoma"/>
              </a:rPr>
              <a:t>La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b="1" spc="-70" dirty="0">
                <a:latin typeface="Tahoma"/>
                <a:cs typeface="Tahoma"/>
              </a:rPr>
              <a:t>demanda</a:t>
            </a:r>
            <a:r>
              <a:rPr sz="1100" b="1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cada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almacén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(lo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que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necesita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recibir). En</a:t>
            </a:r>
            <a:r>
              <a:rPr sz="1100" spc="-114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tu</a:t>
            </a:r>
            <a:r>
              <a:rPr sz="1100" spc="-114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ejercicio:</a:t>
            </a:r>
            <a:endParaRPr sz="1100">
              <a:latin typeface="Tahoma"/>
              <a:cs typeface="Tahoma"/>
            </a:endParaRPr>
          </a:p>
          <a:p>
            <a:pPr marL="41275">
              <a:lnSpc>
                <a:spcPct val="100000"/>
              </a:lnSpc>
              <a:spcBef>
                <a:spcPts val="915"/>
              </a:spcBef>
            </a:pPr>
            <a:r>
              <a:rPr sz="1100" b="1" spc="-70" dirty="0">
                <a:latin typeface="Tahoma"/>
                <a:cs typeface="Tahoma"/>
              </a:rPr>
              <a:t>Origen</a:t>
            </a:r>
            <a:r>
              <a:rPr sz="1100" b="1" spc="-45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ahoma"/>
                <a:cs typeface="Tahoma"/>
              </a:rPr>
              <a:t>Oferta</a:t>
            </a:r>
            <a:endParaRPr sz="1100">
              <a:latin typeface="Tahoma"/>
              <a:cs typeface="Tahoma"/>
            </a:endParaRPr>
          </a:p>
          <a:p>
            <a:pPr marL="41275">
              <a:lnSpc>
                <a:spcPct val="100000"/>
              </a:lnSpc>
              <a:spcBef>
                <a:spcPts val="1225"/>
              </a:spcBef>
              <a:tabLst>
                <a:tab pos="498475" algn="l"/>
              </a:tabLst>
            </a:pPr>
            <a:r>
              <a:rPr sz="1100" spc="-25" dirty="0">
                <a:latin typeface="Tahoma"/>
                <a:cs typeface="Tahoma"/>
              </a:rPr>
              <a:t>F1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spc="-25" dirty="0">
                <a:latin typeface="Tahoma"/>
                <a:cs typeface="Tahoma"/>
              </a:rPr>
              <a:t>20</a:t>
            </a:r>
            <a:endParaRPr sz="1100">
              <a:latin typeface="Tahoma"/>
              <a:cs typeface="Tahoma"/>
            </a:endParaRPr>
          </a:p>
          <a:p>
            <a:pPr marL="41275">
              <a:lnSpc>
                <a:spcPct val="100000"/>
              </a:lnSpc>
              <a:spcBef>
                <a:spcPts val="1240"/>
              </a:spcBef>
              <a:tabLst>
                <a:tab pos="498475" algn="l"/>
              </a:tabLst>
            </a:pPr>
            <a:r>
              <a:rPr sz="1100" spc="-25" dirty="0">
                <a:latin typeface="Tahoma"/>
                <a:cs typeface="Tahoma"/>
              </a:rPr>
              <a:t>F2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spc="-25" dirty="0">
                <a:latin typeface="Tahoma"/>
                <a:cs typeface="Tahoma"/>
              </a:rPr>
              <a:t>30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00">
              <a:latin typeface="Tahoma"/>
              <a:cs typeface="Tahoma"/>
            </a:endParaRPr>
          </a:p>
          <a:p>
            <a:pPr marL="41275">
              <a:lnSpc>
                <a:spcPct val="100000"/>
              </a:lnSpc>
            </a:pPr>
            <a:r>
              <a:rPr sz="1100" b="1" spc="-60" dirty="0">
                <a:latin typeface="Tahoma"/>
                <a:cs typeface="Tahoma"/>
              </a:rPr>
              <a:t>Destino</a:t>
            </a:r>
            <a:r>
              <a:rPr sz="1100" b="1" spc="25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ahoma"/>
                <a:cs typeface="Tahoma"/>
              </a:rPr>
              <a:t>Demanda</a:t>
            </a:r>
            <a:endParaRPr sz="1100">
              <a:latin typeface="Tahoma"/>
              <a:cs typeface="Tahoma"/>
            </a:endParaRPr>
          </a:p>
          <a:p>
            <a:pPr marL="41275">
              <a:lnSpc>
                <a:spcPct val="100000"/>
              </a:lnSpc>
              <a:spcBef>
                <a:spcPts val="1225"/>
              </a:spcBef>
              <a:tabLst>
                <a:tab pos="574675" algn="l"/>
              </a:tabLst>
            </a:pPr>
            <a:r>
              <a:rPr sz="1100" spc="-25" dirty="0">
                <a:latin typeface="Tahoma"/>
                <a:cs typeface="Tahoma"/>
              </a:rPr>
              <a:t>A1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spc="-25" dirty="0">
                <a:latin typeface="Tahoma"/>
                <a:cs typeface="Tahoma"/>
              </a:rPr>
              <a:t>25</a:t>
            </a:r>
            <a:endParaRPr sz="1100">
              <a:latin typeface="Tahoma"/>
              <a:cs typeface="Tahoma"/>
            </a:endParaRPr>
          </a:p>
          <a:p>
            <a:pPr marL="41275">
              <a:lnSpc>
                <a:spcPct val="100000"/>
              </a:lnSpc>
              <a:spcBef>
                <a:spcPts val="1235"/>
              </a:spcBef>
              <a:tabLst>
                <a:tab pos="574675" algn="l"/>
              </a:tabLst>
            </a:pPr>
            <a:r>
              <a:rPr sz="1100" spc="-25" dirty="0">
                <a:latin typeface="Tahoma"/>
                <a:cs typeface="Tahoma"/>
              </a:rPr>
              <a:t>A2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spc="-25" dirty="0">
                <a:latin typeface="Tahoma"/>
                <a:cs typeface="Tahoma"/>
              </a:rPr>
              <a:t>25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00">
              <a:latin typeface="Tahoma"/>
              <a:cs typeface="Tahoma"/>
            </a:endParaRPr>
          </a:p>
          <a:p>
            <a:pPr marL="41275">
              <a:lnSpc>
                <a:spcPct val="100000"/>
              </a:lnSpc>
            </a:pPr>
            <a:r>
              <a:rPr sz="1100" b="1" spc="-25" dirty="0">
                <a:latin typeface="Tahoma"/>
                <a:cs typeface="Tahoma"/>
              </a:rPr>
              <a:t>Costos</a:t>
            </a:r>
            <a:r>
              <a:rPr sz="1100" b="1" spc="-35" dirty="0">
                <a:latin typeface="Tahoma"/>
                <a:cs typeface="Tahoma"/>
              </a:rPr>
              <a:t> </a:t>
            </a:r>
            <a:r>
              <a:rPr sz="1100" b="1" spc="-105" dirty="0">
                <a:latin typeface="Tahoma"/>
                <a:cs typeface="Tahoma"/>
              </a:rPr>
              <a:t>A1</a:t>
            </a:r>
            <a:r>
              <a:rPr sz="1100" b="1" spc="-20" dirty="0">
                <a:latin typeface="Tahoma"/>
                <a:cs typeface="Tahoma"/>
              </a:rPr>
              <a:t> </a:t>
            </a:r>
            <a:r>
              <a:rPr sz="1100" b="1" spc="-25" dirty="0">
                <a:latin typeface="Tahoma"/>
                <a:cs typeface="Tahoma"/>
              </a:rPr>
              <a:t>A2</a:t>
            </a:r>
            <a:endParaRPr sz="1100">
              <a:latin typeface="Tahoma"/>
              <a:cs typeface="Tahoma"/>
            </a:endParaRPr>
          </a:p>
          <a:p>
            <a:pPr marL="41275">
              <a:lnSpc>
                <a:spcPct val="100000"/>
              </a:lnSpc>
              <a:spcBef>
                <a:spcPts val="1225"/>
              </a:spcBef>
              <a:tabLst>
                <a:tab pos="527685" algn="l"/>
              </a:tabLst>
            </a:pPr>
            <a:r>
              <a:rPr sz="1100" spc="-25" dirty="0">
                <a:latin typeface="Tahoma"/>
                <a:cs typeface="Tahoma"/>
              </a:rPr>
              <a:t>F1</a:t>
            </a:r>
            <a:r>
              <a:rPr sz="1100" dirty="0">
                <a:latin typeface="Tahoma"/>
                <a:cs typeface="Tahoma"/>
              </a:rPr>
              <a:t>	4</a:t>
            </a:r>
            <a:r>
              <a:rPr sz="1100" spc="140" dirty="0">
                <a:latin typeface="Tahoma"/>
                <a:cs typeface="Tahoma"/>
              </a:rPr>
              <a:t>  </a:t>
            </a:r>
            <a:r>
              <a:rPr sz="1100" spc="-50" dirty="0">
                <a:latin typeface="Tahoma"/>
                <a:cs typeface="Tahoma"/>
              </a:rPr>
              <a:t>6</a:t>
            </a:r>
            <a:endParaRPr sz="1100">
              <a:latin typeface="Tahoma"/>
              <a:cs typeface="Tahoma"/>
            </a:endParaRPr>
          </a:p>
          <a:p>
            <a:pPr marL="41275">
              <a:lnSpc>
                <a:spcPct val="100000"/>
              </a:lnSpc>
              <a:spcBef>
                <a:spcPts val="1225"/>
              </a:spcBef>
              <a:tabLst>
                <a:tab pos="527685" algn="l"/>
              </a:tabLst>
            </a:pPr>
            <a:r>
              <a:rPr sz="1100" spc="-25" dirty="0">
                <a:latin typeface="Tahoma"/>
                <a:cs typeface="Tahoma"/>
              </a:rPr>
              <a:t>F2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spc="-50" dirty="0">
                <a:latin typeface="Tahoma"/>
                <a:cs typeface="Tahoma"/>
              </a:rPr>
              <a:t>5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8120" y="877570"/>
            <a:ext cx="140398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30" dirty="0">
                <a:latin typeface="Tahoma"/>
                <a:cs typeface="Tahoma"/>
              </a:rPr>
              <a:t>RESUELTO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EN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POMQM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8120" y="3450463"/>
            <a:ext cx="145859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30" dirty="0">
                <a:latin typeface="Tahoma"/>
                <a:cs typeface="Tahoma"/>
              </a:rPr>
              <a:t>RESUELTO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EN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RSTUDIO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0135" y="1185672"/>
            <a:ext cx="5612129" cy="187934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2514" y="4088510"/>
            <a:ext cx="5612130" cy="2976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8120" y="877570"/>
            <a:ext cx="4065904" cy="162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50" dirty="0">
                <a:latin typeface="Tahoma"/>
                <a:cs typeface="Tahoma"/>
              </a:rPr>
              <a:t>Ejercicio</a:t>
            </a:r>
            <a:r>
              <a:rPr sz="1100" b="1" spc="-45" dirty="0">
                <a:latin typeface="Tahoma"/>
                <a:cs typeface="Tahoma"/>
              </a:rPr>
              <a:t> </a:t>
            </a:r>
            <a:r>
              <a:rPr sz="1100" b="1" spc="-50" dirty="0">
                <a:latin typeface="Tahoma"/>
                <a:cs typeface="Tahoma"/>
              </a:rPr>
              <a:t>2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100" b="1" spc="-10" dirty="0">
                <a:latin typeface="Tahoma"/>
                <a:cs typeface="Tahoma"/>
              </a:rPr>
              <a:t>Enunciado:</a:t>
            </a:r>
            <a:endParaRPr sz="1100">
              <a:latin typeface="Tahoma"/>
              <a:cs typeface="Tahoma"/>
            </a:endParaRPr>
          </a:p>
          <a:p>
            <a:pPr marL="469265" indent="-228600">
              <a:lnSpc>
                <a:spcPct val="100000"/>
              </a:lnSpc>
              <a:spcBef>
                <a:spcPts val="919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dirty="0">
                <a:latin typeface="Tahoma"/>
                <a:cs typeface="Tahoma"/>
              </a:rPr>
              <a:t>Fábricas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F1</a:t>
            </a:r>
            <a:r>
              <a:rPr sz="1100" spc="-114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y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F2</a:t>
            </a:r>
            <a:r>
              <a:rPr sz="1100" spc="-114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con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ofertas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30</a:t>
            </a:r>
            <a:r>
              <a:rPr sz="1100" spc="-114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y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20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unidades.</a:t>
            </a:r>
            <a:endParaRPr sz="1100">
              <a:latin typeface="Tahoma"/>
              <a:cs typeface="Tahoma"/>
            </a:endParaRPr>
          </a:p>
          <a:p>
            <a:pPr marL="469265" indent="-228600">
              <a:lnSpc>
                <a:spcPct val="100000"/>
              </a:lnSpc>
              <a:spcBef>
                <a:spcPts val="940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dirty="0">
                <a:latin typeface="Tahoma"/>
                <a:cs typeface="Tahoma"/>
              </a:rPr>
              <a:t>Almacenes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A1,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A2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y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A3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con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demandas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10,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25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y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15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unidades.</a:t>
            </a:r>
            <a:endParaRPr sz="1100">
              <a:latin typeface="Tahoma"/>
              <a:cs typeface="Tahoma"/>
            </a:endParaRPr>
          </a:p>
          <a:p>
            <a:pPr marL="469265" marR="2441575" indent="-228600">
              <a:lnSpc>
                <a:spcPts val="2260"/>
              </a:lnSpc>
              <a:spcBef>
                <a:spcPts val="80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dirty="0">
                <a:latin typeface="Tahoma"/>
                <a:cs typeface="Tahoma"/>
              </a:rPr>
              <a:t>Costos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por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unidad: </a:t>
            </a:r>
            <a:r>
              <a:rPr sz="1100" spc="-50" dirty="0"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80820" y="4876926"/>
            <a:ext cx="3646804" cy="1622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100" b="1" spc="-50" dirty="0">
                <a:latin typeface="Tahoma"/>
                <a:cs typeface="Tahoma"/>
              </a:rPr>
              <a:t>Ejercicio</a:t>
            </a:r>
            <a:r>
              <a:rPr sz="1100" b="1" spc="-45" dirty="0">
                <a:latin typeface="Tahoma"/>
                <a:cs typeface="Tahoma"/>
              </a:rPr>
              <a:t> </a:t>
            </a:r>
            <a:r>
              <a:rPr sz="1100" b="1" spc="-50" dirty="0">
                <a:latin typeface="Tahoma"/>
                <a:cs typeface="Tahoma"/>
              </a:rPr>
              <a:t>3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r>
              <a:rPr sz="1100" b="1" spc="-10" dirty="0">
                <a:latin typeface="Tahoma"/>
                <a:cs typeface="Tahoma"/>
              </a:rPr>
              <a:t>Enunciado:</a:t>
            </a:r>
            <a:endParaRPr sz="1100">
              <a:latin typeface="Tahoma"/>
              <a:cs typeface="Tahoma"/>
            </a:endParaRPr>
          </a:p>
          <a:p>
            <a:pPr marL="227965">
              <a:lnSpc>
                <a:spcPct val="100000"/>
              </a:lnSpc>
              <a:spcBef>
                <a:spcPts val="1025"/>
              </a:spcBef>
            </a:pPr>
            <a:r>
              <a:rPr sz="1000" spc="-50" dirty="0">
                <a:latin typeface="Symbol"/>
                <a:cs typeface="Symbol"/>
              </a:rPr>
              <a:t></a:t>
            </a:r>
            <a:endParaRPr sz="1000">
              <a:latin typeface="Symbol"/>
              <a:cs typeface="Symbol"/>
            </a:endParaRPr>
          </a:p>
          <a:p>
            <a:pPr marL="456565" indent="-228600">
              <a:lnSpc>
                <a:spcPct val="100000"/>
              </a:lnSpc>
              <a:spcBef>
                <a:spcPts val="955"/>
              </a:spcBef>
              <a:buSzPct val="90909"/>
              <a:buFont typeface="Symbol"/>
              <a:buChar char=""/>
              <a:tabLst>
                <a:tab pos="456565" algn="l"/>
              </a:tabLst>
            </a:pPr>
            <a:r>
              <a:rPr sz="1100" dirty="0">
                <a:latin typeface="Tahoma"/>
                <a:cs typeface="Tahoma"/>
              </a:rPr>
              <a:t>Fábricas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F1,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F2</a:t>
            </a:r>
            <a:r>
              <a:rPr sz="1100" spc="-114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y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F3</a:t>
            </a:r>
            <a:r>
              <a:rPr sz="1100" spc="-1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con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ofertas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15,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25</a:t>
            </a:r>
            <a:r>
              <a:rPr sz="1100" spc="-114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y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20</a:t>
            </a:r>
            <a:r>
              <a:rPr sz="1100" spc="-114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unidades.</a:t>
            </a:r>
            <a:endParaRPr sz="1100">
              <a:latin typeface="Tahoma"/>
              <a:cs typeface="Tahoma"/>
            </a:endParaRPr>
          </a:p>
          <a:p>
            <a:pPr marL="456565" indent="-228600">
              <a:lnSpc>
                <a:spcPct val="100000"/>
              </a:lnSpc>
              <a:spcBef>
                <a:spcPts val="925"/>
              </a:spcBef>
              <a:buSzPct val="90909"/>
              <a:buFont typeface="Symbol"/>
              <a:buChar char=""/>
              <a:tabLst>
                <a:tab pos="456565" algn="l"/>
              </a:tabLst>
            </a:pPr>
            <a:r>
              <a:rPr sz="1100" dirty="0">
                <a:latin typeface="Tahoma"/>
                <a:cs typeface="Tahoma"/>
              </a:rPr>
              <a:t>Almacenes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A1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y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A2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con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demandas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30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y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30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unidades.</a:t>
            </a:r>
            <a:endParaRPr sz="1100">
              <a:latin typeface="Tahoma"/>
              <a:cs typeface="Tahoma"/>
            </a:endParaRPr>
          </a:p>
          <a:p>
            <a:pPr marL="456565" indent="-228600">
              <a:lnSpc>
                <a:spcPct val="100000"/>
              </a:lnSpc>
              <a:spcBef>
                <a:spcPts val="925"/>
              </a:spcBef>
              <a:buSzPct val="90909"/>
              <a:buFont typeface="Symbol"/>
              <a:buChar char=""/>
              <a:tabLst>
                <a:tab pos="456565" algn="l"/>
              </a:tabLst>
            </a:pPr>
            <a:r>
              <a:rPr sz="1100" dirty="0">
                <a:latin typeface="Tahoma"/>
                <a:cs typeface="Tahoma"/>
              </a:rPr>
              <a:t>Costos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por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unidad: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0135" y="6612572"/>
            <a:ext cx="3130677" cy="126028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080135" y="2339339"/>
            <a:ext cx="3680460" cy="2525395"/>
            <a:chOff x="1080135" y="2339339"/>
            <a:chExt cx="3680460" cy="252539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0135" y="2339339"/>
              <a:ext cx="2939541" cy="82740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0135" y="3192525"/>
              <a:ext cx="3680333" cy="1671954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80135" y="7993091"/>
            <a:ext cx="4441063" cy="20085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8120" y="877570"/>
            <a:ext cx="4065904" cy="1052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50" dirty="0">
                <a:latin typeface="Tahoma"/>
                <a:cs typeface="Tahoma"/>
              </a:rPr>
              <a:t>Ejercicio</a:t>
            </a:r>
            <a:r>
              <a:rPr sz="1100" b="1" spc="-45" dirty="0">
                <a:latin typeface="Tahoma"/>
                <a:cs typeface="Tahoma"/>
              </a:rPr>
              <a:t> </a:t>
            </a:r>
            <a:r>
              <a:rPr sz="1100" b="1" spc="-50" dirty="0">
                <a:latin typeface="Tahoma"/>
                <a:cs typeface="Tahoma"/>
              </a:rPr>
              <a:t>4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100" b="1" spc="-10" dirty="0">
                <a:latin typeface="Tahoma"/>
                <a:cs typeface="Tahoma"/>
              </a:rPr>
              <a:t>Enunciado:</a:t>
            </a:r>
            <a:endParaRPr sz="1100">
              <a:latin typeface="Tahoma"/>
              <a:cs typeface="Tahoma"/>
            </a:endParaRPr>
          </a:p>
          <a:p>
            <a:pPr marL="469265" indent="-228600">
              <a:lnSpc>
                <a:spcPct val="100000"/>
              </a:lnSpc>
              <a:spcBef>
                <a:spcPts val="919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dirty="0">
                <a:latin typeface="Tahoma"/>
                <a:cs typeface="Tahoma"/>
              </a:rPr>
              <a:t>Fábricas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F1,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F2</a:t>
            </a:r>
            <a:r>
              <a:rPr sz="1100" spc="-114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y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F3</a:t>
            </a:r>
            <a:r>
              <a:rPr sz="1100" spc="-1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con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ofertas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20,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30</a:t>
            </a:r>
            <a:r>
              <a:rPr sz="1100" spc="-114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y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25</a:t>
            </a:r>
            <a:r>
              <a:rPr sz="1100" spc="-114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unidades.</a:t>
            </a:r>
            <a:endParaRPr sz="1100">
              <a:latin typeface="Tahoma"/>
              <a:cs typeface="Tahoma"/>
            </a:endParaRPr>
          </a:p>
          <a:p>
            <a:pPr marL="469265" indent="-228600">
              <a:lnSpc>
                <a:spcPct val="100000"/>
              </a:lnSpc>
              <a:spcBef>
                <a:spcPts val="940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dirty="0">
                <a:latin typeface="Tahoma"/>
                <a:cs typeface="Tahoma"/>
              </a:rPr>
              <a:t>Almacenes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A1,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A2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y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A3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con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demandas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10,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35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y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30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unidades.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8120" y="5165216"/>
            <a:ext cx="3619500" cy="10502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50" dirty="0">
                <a:latin typeface="Tahoma"/>
                <a:cs typeface="Tahoma"/>
              </a:rPr>
              <a:t>Ejercicio</a:t>
            </a:r>
            <a:r>
              <a:rPr sz="1100" b="1" spc="-45" dirty="0">
                <a:latin typeface="Tahoma"/>
                <a:cs typeface="Tahoma"/>
              </a:rPr>
              <a:t> </a:t>
            </a:r>
            <a:r>
              <a:rPr sz="1100" b="1" spc="-50" dirty="0">
                <a:latin typeface="Tahoma"/>
                <a:cs typeface="Tahoma"/>
              </a:rPr>
              <a:t>5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1100" b="1" spc="-10" dirty="0">
                <a:latin typeface="Tahoma"/>
                <a:cs typeface="Tahoma"/>
              </a:rPr>
              <a:t>Enunciado:</a:t>
            </a:r>
            <a:endParaRPr sz="1100">
              <a:latin typeface="Tahoma"/>
              <a:cs typeface="Tahoma"/>
            </a:endParaRPr>
          </a:p>
          <a:p>
            <a:pPr marL="469265" indent="-228600">
              <a:lnSpc>
                <a:spcPct val="100000"/>
              </a:lnSpc>
              <a:spcBef>
                <a:spcPts val="92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dirty="0">
                <a:latin typeface="Tahoma"/>
                <a:cs typeface="Tahoma"/>
              </a:rPr>
              <a:t>Fábricas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F1</a:t>
            </a:r>
            <a:r>
              <a:rPr sz="1100" spc="-114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y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F2</a:t>
            </a:r>
            <a:r>
              <a:rPr sz="1100" spc="-114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con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ofertas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15</a:t>
            </a:r>
            <a:r>
              <a:rPr sz="1100" spc="-114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y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25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unidades.</a:t>
            </a:r>
            <a:endParaRPr sz="1100">
              <a:latin typeface="Tahoma"/>
              <a:cs typeface="Tahoma"/>
            </a:endParaRPr>
          </a:p>
          <a:p>
            <a:pPr marL="469265" indent="-228600">
              <a:lnSpc>
                <a:spcPct val="100000"/>
              </a:lnSpc>
              <a:spcBef>
                <a:spcPts val="93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dirty="0">
                <a:latin typeface="Tahoma"/>
                <a:cs typeface="Tahoma"/>
              </a:rPr>
              <a:t>Almacenes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A1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y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A2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con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demandas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20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y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20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unidades.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0135" y="2042286"/>
            <a:ext cx="3140455" cy="102489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0135" y="6328790"/>
            <a:ext cx="3383153" cy="11645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0135" y="3185286"/>
            <a:ext cx="4030853" cy="182753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80135" y="7589405"/>
            <a:ext cx="5130800" cy="232384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8120" y="877570"/>
            <a:ext cx="5204460" cy="1419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90" dirty="0">
                <a:latin typeface="Tahoma"/>
                <a:cs typeface="Tahoma"/>
              </a:rPr>
              <a:t>EJERCICIOS</a:t>
            </a:r>
            <a:r>
              <a:rPr sz="1100" b="1" spc="-65" dirty="0">
                <a:latin typeface="Tahoma"/>
                <a:cs typeface="Tahoma"/>
              </a:rPr>
              <a:t> </a:t>
            </a:r>
            <a:r>
              <a:rPr sz="1100" b="1" spc="-60" dirty="0">
                <a:latin typeface="Tahoma"/>
                <a:cs typeface="Tahoma"/>
              </a:rPr>
              <a:t>EN</a:t>
            </a:r>
            <a:r>
              <a:rPr sz="1100" b="1" spc="-65" dirty="0">
                <a:latin typeface="Tahoma"/>
                <a:cs typeface="Tahoma"/>
              </a:rPr>
              <a:t> </a:t>
            </a:r>
            <a:r>
              <a:rPr sz="1100" b="1" spc="-80" dirty="0">
                <a:latin typeface="Tahoma"/>
                <a:cs typeface="Tahoma"/>
              </a:rPr>
              <a:t>POMQM</a:t>
            </a:r>
            <a:r>
              <a:rPr sz="1100" b="1" spc="-65" dirty="0">
                <a:latin typeface="Tahoma"/>
                <a:cs typeface="Tahoma"/>
              </a:rPr>
              <a:t> </a:t>
            </a:r>
            <a:r>
              <a:rPr sz="1100" b="1" spc="-105" dirty="0">
                <a:latin typeface="Tahoma"/>
                <a:cs typeface="Tahoma"/>
              </a:rPr>
              <a:t>Y</a:t>
            </a:r>
            <a:r>
              <a:rPr sz="1100" b="1" spc="-50" dirty="0">
                <a:latin typeface="Tahoma"/>
                <a:cs typeface="Tahoma"/>
              </a:rPr>
              <a:t> </a:t>
            </a:r>
            <a:r>
              <a:rPr sz="1100" b="1" spc="-105" dirty="0">
                <a:latin typeface="Tahoma"/>
                <a:cs typeface="Tahoma"/>
              </a:rPr>
              <a:t>RSTUDIO</a:t>
            </a:r>
            <a:r>
              <a:rPr sz="1100" b="1" spc="-40" dirty="0">
                <a:latin typeface="Tahoma"/>
                <a:cs typeface="Tahoma"/>
              </a:rPr>
              <a:t> </a:t>
            </a:r>
            <a:r>
              <a:rPr sz="1100" b="1" spc="-70" dirty="0">
                <a:latin typeface="Tahoma"/>
                <a:cs typeface="Tahoma"/>
              </a:rPr>
              <a:t>DE</a:t>
            </a:r>
            <a:r>
              <a:rPr sz="1100" b="1" spc="-65" dirty="0">
                <a:latin typeface="Tahoma"/>
                <a:cs typeface="Tahoma"/>
              </a:rPr>
              <a:t> </a:t>
            </a:r>
            <a:r>
              <a:rPr sz="1100" b="1" spc="-85" dirty="0">
                <a:latin typeface="Tahoma"/>
                <a:cs typeface="Tahoma"/>
              </a:rPr>
              <a:t>PROGRAMACIÓN</a:t>
            </a:r>
            <a:r>
              <a:rPr sz="1100" b="1" spc="-75" dirty="0">
                <a:latin typeface="Tahoma"/>
                <a:cs typeface="Tahoma"/>
              </a:rPr>
              <a:t> </a:t>
            </a:r>
            <a:r>
              <a:rPr sz="1100" b="1" spc="-65" dirty="0">
                <a:latin typeface="Tahoma"/>
                <a:cs typeface="Tahoma"/>
              </a:rPr>
              <a:t>DE </a:t>
            </a:r>
            <a:r>
              <a:rPr sz="1100" b="1" spc="-80" dirty="0">
                <a:latin typeface="Tahoma"/>
                <a:cs typeface="Tahoma"/>
              </a:rPr>
              <a:t>PROYECTOS</a:t>
            </a:r>
            <a:r>
              <a:rPr sz="1100" b="1" spc="-65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ahoma"/>
                <a:cs typeface="Tahoma"/>
              </a:rPr>
              <a:t>(PERT)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100" b="1" spc="-95" dirty="0">
                <a:latin typeface="Tahoma"/>
                <a:cs typeface="Tahoma"/>
              </a:rPr>
              <a:t>EJERCICIO</a:t>
            </a:r>
            <a:r>
              <a:rPr sz="1100" b="1" spc="-60" dirty="0">
                <a:latin typeface="Tahoma"/>
                <a:cs typeface="Tahoma"/>
              </a:rPr>
              <a:t> </a:t>
            </a:r>
            <a:r>
              <a:rPr sz="1100" b="1" spc="-120" dirty="0">
                <a:latin typeface="Tahoma"/>
                <a:cs typeface="Tahoma"/>
              </a:rPr>
              <a:t>1</a:t>
            </a:r>
            <a:r>
              <a:rPr sz="1100" b="1" spc="-70" dirty="0">
                <a:latin typeface="Tahoma"/>
                <a:cs typeface="Tahoma"/>
              </a:rPr>
              <a:t> </a:t>
            </a:r>
            <a:r>
              <a:rPr sz="1100" b="1" dirty="0">
                <a:latin typeface="Tahoma"/>
                <a:cs typeface="Tahoma"/>
              </a:rPr>
              <a:t>—</a:t>
            </a:r>
            <a:r>
              <a:rPr sz="1100" b="1" spc="-75" dirty="0">
                <a:latin typeface="Tahoma"/>
                <a:cs typeface="Tahoma"/>
              </a:rPr>
              <a:t> </a:t>
            </a:r>
            <a:r>
              <a:rPr sz="1100" b="1" spc="-60" dirty="0">
                <a:latin typeface="Tahoma"/>
                <a:cs typeface="Tahoma"/>
              </a:rPr>
              <a:t>Desarrollo</a:t>
            </a:r>
            <a:r>
              <a:rPr sz="1100" b="1" spc="-55" dirty="0">
                <a:latin typeface="Tahoma"/>
                <a:cs typeface="Tahoma"/>
              </a:rPr>
              <a:t> </a:t>
            </a:r>
            <a:r>
              <a:rPr sz="1100" b="1" spc="-50" dirty="0">
                <a:latin typeface="Tahoma"/>
                <a:cs typeface="Tahoma"/>
              </a:rPr>
              <a:t>de</a:t>
            </a:r>
            <a:r>
              <a:rPr sz="1100" b="1" spc="-80" dirty="0">
                <a:latin typeface="Tahoma"/>
                <a:cs typeface="Tahoma"/>
              </a:rPr>
              <a:t> </a:t>
            </a:r>
            <a:r>
              <a:rPr sz="1100" b="1" spc="-75" dirty="0">
                <a:latin typeface="Tahoma"/>
                <a:cs typeface="Tahoma"/>
              </a:rPr>
              <a:t>una</a:t>
            </a:r>
            <a:r>
              <a:rPr sz="1100" b="1" spc="-55" dirty="0">
                <a:latin typeface="Tahoma"/>
                <a:cs typeface="Tahoma"/>
              </a:rPr>
              <a:t> </a:t>
            </a:r>
            <a:r>
              <a:rPr sz="1100" b="1" spc="-25" dirty="0">
                <a:latin typeface="Tahoma"/>
                <a:cs typeface="Tahoma"/>
              </a:rPr>
              <a:t>app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10000"/>
              </a:lnSpc>
              <a:spcBef>
                <a:spcPts val="790"/>
              </a:spcBef>
            </a:pPr>
            <a:r>
              <a:rPr sz="1100" spc="-10" dirty="0">
                <a:latin typeface="Tahoma"/>
                <a:cs typeface="Tahoma"/>
              </a:rPr>
              <a:t>Enunciado: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Una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empresa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desarrolla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una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app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con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actividades: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Definir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requerimientos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90" dirty="0">
                <a:latin typeface="Tahoma"/>
                <a:cs typeface="Tahoma"/>
              </a:rPr>
              <a:t>→</a:t>
            </a:r>
            <a:r>
              <a:rPr sz="1100" dirty="0">
                <a:latin typeface="Tahoma"/>
                <a:cs typeface="Tahoma"/>
              </a:rPr>
              <a:t> Diseñar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interfaz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/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Programar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funciones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440" dirty="0">
                <a:latin typeface="Tahoma"/>
                <a:cs typeface="Tahoma"/>
              </a:rPr>
              <a:t>→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Pruebas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internas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440" dirty="0">
                <a:latin typeface="Tahoma"/>
                <a:cs typeface="Tahoma"/>
              </a:rPr>
              <a:t>→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Publicar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app.</a:t>
            </a:r>
            <a:endParaRPr sz="1100">
              <a:latin typeface="Tahoma"/>
              <a:cs typeface="Tahoma"/>
            </a:endParaRPr>
          </a:p>
          <a:p>
            <a:pPr marL="12700" marR="3098165">
              <a:lnSpc>
                <a:spcPct val="110000"/>
              </a:lnSpc>
              <a:spcBef>
                <a:spcPts val="795"/>
              </a:spcBef>
            </a:pPr>
            <a:r>
              <a:rPr sz="1100" spc="-20" dirty="0">
                <a:latin typeface="Tahoma"/>
                <a:cs typeface="Tahoma"/>
              </a:rPr>
              <a:t>Ruta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crítica: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b="1" spc="-120" dirty="0">
                <a:latin typeface="Tahoma"/>
                <a:cs typeface="Tahoma"/>
              </a:rPr>
              <a:t>1</a:t>
            </a:r>
            <a:r>
              <a:rPr sz="1100" b="1" spc="-80" dirty="0">
                <a:latin typeface="Tahoma"/>
                <a:cs typeface="Tahoma"/>
              </a:rPr>
              <a:t> </a:t>
            </a:r>
            <a:r>
              <a:rPr sz="1100" b="1" spc="-440" dirty="0">
                <a:latin typeface="Tahoma"/>
                <a:cs typeface="Tahoma"/>
              </a:rPr>
              <a:t>→</a:t>
            </a:r>
            <a:r>
              <a:rPr sz="1100" b="1" spc="-90" dirty="0">
                <a:latin typeface="Tahoma"/>
                <a:cs typeface="Tahoma"/>
              </a:rPr>
              <a:t> </a:t>
            </a:r>
            <a:r>
              <a:rPr sz="1100" b="1" spc="-120" dirty="0">
                <a:latin typeface="Tahoma"/>
                <a:cs typeface="Tahoma"/>
              </a:rPr>
              <a:t>3</a:t>
            </a:r>
            <a:r>
              <a:rPr sz="1100" b="1" spc="-80" dirty="0">
                <a:latin typeface="Tahoma"/>
                <a:cs typeface="Tahoma"/>
              </a:rPr>
              <a:t> </a:t>
            </a:r>
            <a:r>
              <a:rPr sz="1100" b="1" spc="-440" dirty="0">
                <a:latin typeface="Tahoma"/>
                <a:cs typeface="Tahoma"/>
              </a:rPr>
              <a:t>→</a:t>
            </a:r>
            <a:r>
              <a:rPr sz="1100" b="1" spc="-80" dirty="0">
                <a:latin typeface="Tahoma"/>
                <a:cs typeface="Tahoma"/>
              </a:rPr>
              <a:t> </a:t>
            </a:r>
            <a:r>
              <a:rPr sz="1100" b="1" spc="-120" dirty="0">
                <a:latin typeface="Tahoma"/>
                <a:cs typeface="Tahoma"/>
              </a:rPr>
              <a:t>4</a:t>
            </a:r>
            <a:r>
              <a:rPr sz="1100" b="1" spc="-90" dirty="0">
                <a:latin typeface="Tahoma"/>
                <a:cs typeface="Tahoma"/>
              </a:rPr>
              <a:t> </a:t>
            </a:r>
            <a:r>
              <a:rPr sz="1100" b="1" spc="-440" dirty="0">
                <a:latin typeface="Tahoma"/>
                <a:cs typeface="Tahoma"/>
              </a:rPr>
              <a:t>→</a:t>
            </a:r>
            <a:r>
              <a:rPr sz="1100" b="1" spc="-80" dirty="0">
                <a:latin typeface="Tahoma"/>
                <a:cs typeface="Tahoma"/>
              </a:rPr>
              <a:t> </a:t>
            </a:r>
            <a:r>
              <a:rPr sz="1100" b="1" spc="-120" dirty="0">
                <a:latin typeface="Tahoma"/>
                <a:cs typeface="Tahoma"/>
              </a:rPr>
              <a:t>5</a:t>
            </a:r>
            <a:r>
              <a:rPr sz="1100" b="1" spc="-9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(A-</a:t>
            </a:r>
            <a:r>
              <a:rPr sz="1100" dirty="0">
                <a:latin typeface="Tahoma"/>
                <a:cs typeface="Tahoma"/>
              </a:rPr>
              <a:t>C-</a:t>
            </a:r>
            <a:r>
              <a:rPr sz="1100" spc="-20" dirty="0">
                <a:latin typeface="Tahoma"/>
                <a:cs typeface="Tahoma"/>
              </a:rPr>
              <a:t>D-</a:t>
            </a:r>
            <a:r>
              <a:rPr sz="1100" spc="-25" dirty="0">
                <a:latin typeface="Tahoma"/>
                <a:cs typeface="Tahoma"/>
              </a:rPr>
              <a:t>E) </a:t>
            </a:r>
            <a:r>
              <a:rPr sz="1100" spc="-10" dirty="0">
                <a:latin typeface="Tahoma"/>
                <a:cs typeface="Tahoma"/>
              </a:rPr>
              <a:t>Duración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total: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b="1" spc="-105" dirty="0">
                <a:latin typeface="Tahoma"/>
                <a:cs typeface="Tahoma"/>
              </a:rPr>
              <a:t>14.34</a:t>
            </a:r>
            <a:r>
              <a:rPr sz="1100" b="1" spc="-70" dirty="0">
                <a:latin typeface="Tahoma"/>
                <a:cs typeface="Tahoma"/>
              </a:rPr>
              <a:t> </a:t>
            </a:r>
            <a:r>
              <a:rPr sz="1100" b="1" spc="-20" dirty="0">
                <a:latin typeface="Tahoma"/>
                <a:cs typeface="Tahoma"/>
              </a:rPr>
              <a:t>días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8120" y="5530976"/>
            <a:ext cx="5578475" cy="1419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95" dirty="0">
                <a:latin typeface="Tahoma"/>
                <a:cs typeface="Tahoma"/>
              </a:rPr>
              <a:t>EJERCICIO</a:t>
            </a:r>
            <a:r>
              <a:rPr sz="1100" b="1" spc="-65" dirty="0">
                <a:latin typeface="Tahoma"/>
                <a:cs typeface="Tahoma"/>
              </a:rPr>
              <a:t> </a:t>
            </a:r>
            <a:r>
              <a:rPr sz="1100" b="1" spc="-120" dirty="0">
                <a:latin typeface="Tahoma"/>
                <a:cs typeface="Tahoma"/>
              </a:rPr>
              <a:t>2</a:t>
            </a:r>
            <a:r>
              <a:rPr sz="1100" b="1" spc="-70" dirty="0">
                <a:latin typeface="Tahoma"/>
                <a:cs typeface="Tahoma"/>
              </a:rPr>
              <a:t> </a:t>
            </a:r>
            <a:r>
              <a:rPr sz="1100" b="1" dirty="0">
                <a:latin typeface="Tahoma"/>
                <a:cs typeface="Tahoma"/>
              </a:rPr>
              <a:t>—</a:t>
            </a:r>
            <a:r>
              <a:rPr sz="1100" b="1" spc="-70" dirty="0">
                <a:latin typeface="Tahoma"/>
                <a:cs typeface="Tahoma"/>
              </a:rPr>
              <a:t> </a:t>
            </a:r>
            <a:r>
              <a:rPr sz="1100" b="1" spc="-45" dirty="0">
                <a:latin typeface="Tahoma"/>
                <a:cs typeface="Tahoma"/>
              </a:rPr>
              <a:t>Construcción</a:t>
            </a:r>
            <a:r>
              <a:rPr sz="1100" b="1" spc="-70" dirty="0">
                <a:latin typeface="Tahoma"/>
                <a:cs typeface="Tahoma"/>
              </a:rPr>
              <a:t> </a:t>
            </a:r>
            <a:r>
              <a:rPr sz="1100" b="1" spc="-50" dirty="0">
                <a:latin typeface="Tahoma"/>
                <a:cs typeface="Tahoma"/>
              </a:rPr>
              <a:t>de</a:t>
            </a:r>
            <a:r>
              <a:rPr sz="1100" b="1" spc="-75" dirty="0">
                <a:latin typeface="Tahoma"/>
                <a:cs typeface="Tahoma"/>
              </a:rPr>
              <a:t> una</a:t>
            </a:r>
            <a:r>
              <a:rPr sz="1100" b="1" spc="-60" dirty="0">
                <a:latin typeface="Tahoma"/>
                <a:cs typeface="Tahoma"/>
              </a:rPr>
              <a:t> </a:t>
            </a:r>
            <a:r>
              <a:rPr sz="1100" b="1" spc="-35" dirty="0">
                <a:latin typeface="Tahoma"/>
                <a:cs typeface="Tahoma"/>
              </a:rPr>
              <a:t>casa</a:t>
            </a:r>
            <a:r>
              <a:rPr sz="1100" b="1" spc="-60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ahoma"/>
                <a:cs typeface="Tahoma"/>
              </a:rPr>
              <a:t>pequeña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9100"/>
              </a:lnSpc>
              <a:spcBef>
                <a:spcPts val="815"/>
              </a:spcBef>
            </a:pPr>
            <a:r>
              <a:rPr sz="1100" spc="-10" dirty="0">
                <a:latin typeface="Tahoma"/>
                <a:cs typeface="Tahoma"/>
              </a:rPr>
              <a:t>Enunciado: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Nivelar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terreno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40" dirty="0">
                <a:latin typeface="Tahoma"/>
                <a:cs typeface="Tahoma"/>
              </a:rPr>
              <a:t>→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Cimentación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40" dirty="0">
                <a:latin typeface="Tahoma"/>
                <a:cs typeface="Tahoma"/>
              </a:rPr>
              <a:t>→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Levantar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muros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40" dirty="0">
                <a:latin typeface="Tahoma"/>
                <a:cs typeface="Tahoma"/>
              </a:rPr>
              <a:t>→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Colocar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techo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Instalaciones </a:t>
            </a:r>
            <a:r>
              <a:rPr sz="1100" dirty="0">
                <a:latin typeface="Tahoma"/>
                <a:cs typeface="Tahoma"/>
              </a:rPr>
              <a:t>eléctricas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40" dirty="0">
                <a:latin typeface="Tahoma"/>
                <a:cs typeface="Tahoma"/>
              </a:rPr>
              <a:t>→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Pintura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y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acabados.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1100" spc="-10" dirty="0">
                <a:latin typeface="Tahoma"/>
                <a:cs typeface="Tahoma"/>
              </a:rPr>
              <a:t>Tabla:</a:t>
            </a:r>
            <a:endParaRPr sz="1100">
              <a:latin typeface="Tahoma"/>
              <a:cs typeface="Tahoma"/>
            </a:endParaRPr>
          </a:p>
          <a:p>
            <a:pPr marL="12700" marR="3147060">
              <a:lnSpc>
                <a:spcPct val="110000"/>
              </a:lnSpc>
              <a:spcBef>
                <a:spcPts val="790"/>
              </a:spcBef>
            </a:pPr>
            <a:r>
              <a:rPr sz="1100" spc="-20" dirty="0">
                <a:latin typeface="Tahoma"/>
                <a:cs typeface="Tahoma"/>
              </a:rPr>
              <a:t>Ruta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crítica: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b="1" spc="-120" dirty="0">
                <a:latin typeface="Tahoma"/>
                <a:cs typeface="Tahoma"/>
              </a:rPr>
              <a:t>1</a:t>
            </a:r>
            <a:r>
              <a:rPr sz="1100" b="1" spc="-80" dirty="0">
                <a:latin typeface="Tahoma"/>
                <a:cs typeface="Tahoma"/>
              </a:rPr>
              <a:t> </a:t>
            </a:r>
            <a:r>
              <a:rPr sz="1100" b="1" spc="-440" dirty="0">
                <a:latin typeface="Tahoma"/>
                <a:cs typeface="Tahoma"/>
              </a:rPr>
              <a:t>→</a:t>
            </a:r>
            <a:r>
              <a:rPr sz="1100" b="1" spc="-95" dirty="0">
                <a:latin typeface="Tahoma"/>
                <a:cs typeface="Tahoma"/>
              </a:rPr>
              <a:t> </a:t>
            </a:r>
            <a:r>
              <a:rPr sz="1100" b="1" spc="-120" dirty="0">
                <a:latin typeface="Tahoma"/>
                <a:cs typeface="Tahoma"/>
              </a:rPr>
              <a:t>2</a:t>
            </a:r>
            <a:r>
              <a:rPr sz="1100" b="1" spc="-80" dirty="0">
                <a:latin typeface="Tahoma"/>
                <a:cs typeface="Tahoma"/>
              </a:rPr>
              <a:t> </a:t>
            </a:r>
            <a:r>
              <a:rPr sz="1100" b="1" spc="-440" dirty="0">
                <a:latin typeface="Tahoma"/>
                <a:cs typeface="Tahoma"/>
              </a:rPr>
              <a:t>→</a:t>
            </a:r>
            <a:r>
              <a:rPr sz="1100" b="1" spc="-80" dirty="0">
                <a:latin typeface="Tahoma"/>
                <a:cs typeface="Tahoma"/>
              </a:rPr>
              <a:t> </a:t>
            </a:r>
            <a:r>
              <a:rPr sz="1100" b="1" spc="-120" dirty="0">
                <a:latin typeface="Tahoma"/>
                <a:cs typeface="Tahoma"/>
              </a:rPr>
              <a:t>3</a:t>
            </a:r>
            <a:r>
              <a:rPr sz="1100" b="1" spc="-95" dirty="0">
                <a:latin typeface="Tahoma"/>
                <a:cs typeface="Tahoma"/>
              </a:rPr>
              <a:t> </a:t>
            </a:r>
            <a:r>
              <a:rPr sz="1100" b="1" spc="-440" dirty="0">
                <a:latin typeface="Tahoma"/>
                <a:cs typeface="Tahoma"/>
              </a:rPr>
              <a:t>→</a:t>
            </a:r>
            <a:r>
              <a:rPr sz="1100" b="1" spc="-80" dirty="0">
                <a:latin typeface="Tahoma"/>
                <a:cs typeface="Tahoma"/>
              </a:rPr>
              <a:t> </a:t>
            </a:r>
            <a:r>
              <a:rPr sz="1100" b="1" spc="-120" dirty="0">
                <a:latin typeface="Tahoma"/>
                <a:cs typeface="Tahoma"/>
              </a:rPr>
              <a:t>5</a:t>
            </a:r>
            <a:r>
              <a:rPr sz="1100" b="1" spc="-90" dirty="0">
                <a:latin typeface="Tahoma"/>
                <a:cs typeface="Tahoma"/>
              </a:rPr>
              <a:t> </a:t>
            </a:r>
            <a:r>
              <a:rPr sz="1100" b="1" spc="-440" dirty="0">
                <a:latin typeface="Tahoma"/>
                <a:cs typeface="Tahoma"/>
              </a:rPr>
              <a:t>→</a:t>
            </a:r>
            <a:r>
              <a:rPr sz="1100" b="1" spc="-85" dirty="0">
                <a:latin typeface="Tahoma"/>
                <a:cs typeface="Tahoma"/>
              </a:rPr>
              <a:t> </a:t>
            </a:r>
            <a:r>
              <a:rPr sz="1100" b="1" spc="-120" dirty="0">
                <a:latin typeface="Tahoma"/>
                <a:cs typeface="Tahoma"/>
              </a:rPr>
              <a:t>6</a:t>
            </a:r>
            <a:r>
              <a:rPr sz="1100" b="1" spc="-7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(A-</a:t>
            </a:r>
            <a:r>
              <a:rPr sz="1100" spc="-10" dirty="0">
                <a:latin typeface="Tahoma"/>
                <a:cs typeface="Tahoma"/>
              </a:rPr>
              <a:t>B-</a:t>
            </a:r>
            <a:r>
              <a:rPr sz="1100" dirty="0">
                <a:latin typeface="Tahoma"/>
                <a:cs typeface="Tahoma"/>
              </a:rPr>
              <a:t>C-</a:t>
            </a:r>
            <a:r>
              <a:rPr sz="1100" spc="-25" dirty="0">
                <a:latin typeface="Tahoma"/>
                <a:cs typeface="Tahoma"/>
              </a:rPr>
              <a:t>E-F) </a:t>
            </a:r>
            <a:r>
              <a:rPr sz="1100" spc="-10" dirty="0">
                <a:latin typeface="Tahoma"/>
                <a:cs typeface="Tahoma"/>
              </a:rPr>
              <a:t>Duración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total: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b="1" spc="-105" dirty="0">
                <a:latin typeface="Tahoma"/>
                <a:cs typeface="Tahoma"/>
              </a:rPr>
              <a:t>21.34</a:t>
            </a:r>
            <a:r>
              <a:rPr sz="1100" b="1" spc="-70" dirty="0">
                <a:latin typeface="Tahoma"/>
                <a:cs typeface="Tahoma"/>
              </a:rPr>
              <a:t> </a:t>
            </a:r>
            <a:r>
              <a:rPr sz="1100" b="1" spc="-20" dirty="0">
                <a:latin typeface="Tahoma"/>
                <a:cs typeface="Tahoma"/>
              </a:rPr>
              <a:t>días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3820" y="6113526"/>
            <a:ext cx="3366643" cy="146621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560" y="3375786"/>
            <a:ext cx="4887595" cy="21336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9619" y="7660335"/>
            <a:ext cx="5027295" cy="217919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32884" y="1948307"/>
            <a:ext cx="3147060" cy="129285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8120" y="877570"/>
            <a:ext cx="5245100" cy="1134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95" dirty="0">
                <a:latin typeface="Tahoma"/>
                <a:cs typeface="Tahoma"/>
              </a:rPr>
              <a:t>EJERCICIO</a:t>
            </a:r>
            <a:r>
              <a:rPr sz="1100" b="1" spc="-60" dirty="0">
                <a:latin typeface="Tahoma"/>
                <a:cs typeface="Tahoma"/>
              </a:rPr>
              <a:t> </a:t>
            </a:r>
            <a:r>
              <a:rPr sz="1100" b="1" spc="-120" dirty="0">
                <a:latin typeface="Tahoma"/>
                <a:cs typeface="Tahoma"/>
              </a:rPr>
              <a:t>3</a:t>
            </a:r>
            <a:r>
              <a:rPr sz="1100" b="1" spc="-70" dirty="0">
                <a:latin typeface="Tahoma"/>
                <a:cs typeface="Tahoma"/>
              </a:rPr>
              <a:t> </a:t>
            </a:r>
            <a:r>
              <a:rPr sz="1100" b="1" dirty="0">
                <a:latin typeface="Tahoma"/>
                <a:cs typeface="Tahoma"/>
              </a:rPr>
              <a:t>—</a:t>
            </a:r>
            <a:r>
              <a:rPr sz="1100" b="1" spc="-70" dirty="0">
                <a:latin typeface="Tahoma"/>
                <a:cs typeface="Tahoma"/>
              </a:rPr>
              <a:t> Organización</a:t>
            </a:r>
            <a:r>
              <a:rPr sz="1100" b="1" spc="-65" dirty="0">
                <a:latin typeface="Tahoma"/>
                <a:cs typeface="Tahoma"/>
              </a:rPr>
              <a:t> </a:t>
            </a:r>
            <a:r>
              <a:rPr sz="1100" b="1" spc="-50" dirty="0">
                <a:latin typeface="Tahoma"/>
                <a:cs typeface="Tahoma"/>
              </a:rPr>
              <a:t>de</a:t>
            </a:r>
            <a:r>
              <a:rPr sz="1100" b="1" spc="-75" dirty="0">
                <a:latin typeface="Tahoma"/>
                <a:cs typeface="Tahoma"/>
              </a:rPr>
              <a:t> </a:t>
            </a:r>
            <a:r>
              <a:rPr sz="1100" b="1" spc="-70" dirty="0">
                <a:latin typeface="Tahoma"/>
                <a:cs typeface="Tahoma"/>
              </a:rPr>
              <a:t>un</a:t>
            </a:r>
            <a:r>
              <a:rPr sz="1100" b="1" spc="-85" dirty="0">
                <a:latin typeface="Tahoma"/>
                <a:cs typeface="Tahoma"/>
              </a:rPr>
              <a:t> </a:t>
            </a:r>
            <a:r>
              <a:rPr sz="1100" b="1" spc="-75" dirty="0">
                <a:latin typeface="Tahoma"/>
                <a:cs typeface="Tahoma"/>
              </a:rPr>
              <a:t>evento</a:t>
            </a:r>
            <a:r>
              <a:rPr sz="1100" b="1" spc="-70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ahoma"/>
                <a:cs typeface="Tahoma"/>
              </a:rPr>
              <a:t>escolar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10000"/>
              </a:lnSpc>
              <a:spcBef>
                <a:spcPts val="805"/>
              </a:spcBef>
            </a:pPr>
            <a:r>
              <a:rPr sz="1100" spc="-10" dirty="0">
                <a:latin typeface="Tahoma"/>
                <a:cs typeface="Tahoma"/>
              </a:rPr>
              <a:t>Enunciado: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Definir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programa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440" dirty="0">
                <a:latin typeface="Tahoma"/>
                <a:cs typeface="Tahoma"/>
              </a:rPr>
              <a:t>→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Reservar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lugar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/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Contratar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sonido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440" dirty="0">
                <a:latin typeface="Tahoma"/>
                <a:cs typeface="Tahoma"/>
              </a:rPr>
              <a:t>→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Enviar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invitaciones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490" dirty="0">
                <a:latin typeface="Tahoma"/>
                <a:cs typeface="Tahoma"/>
              </a:rPr>
              <a:t>→</a:t>
            </a:r>
            <a:r>
              <a:rPr sz="1100" spc="-10" dirty="0">
                <a:latin typeface="Tahoma"/>
                <a:cs typeface="Tahoma"/>
              </a:rPr>
              <a:t> Ensayo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general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440" dirty="0">
                <a:latin typeface="Tahoma"/>
                <a:cs typeface="Tahoma"/>
              </a:rPr>
              <a:t>→</a:t>
            </a:r>
            <a:r>
              <a:rPr sz="1100" spc="-1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Evento</a:t>
            </a:r>
            <a:r>
              <a:rPr sz="1100" spc="-11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final.</a:t>
            </a:r>
            <a:endParaRPr sz="1100">
              <a:latin typeface="Tahoma"/>
              <a:cs typeface="Tahoma"/>
            </a:endParaRPr>
          </a:p>
          <a:p>
            <a:pPr marL="12700" marR="2814320">
              <a:lnSpc>
                <a:spcPct val="110000"/>
              </a:lnSpc>
              <a:spcBef>
                <a:spcPts val="795"/>
              </a:spcBef>
            </a:pPr>
            <a:r>
              <a:rPr sz="1100" spc="-20" dirty="0">
                <a:latin typeface="Tahoma"/>
                <a:cs typeface="Tahoma"/>
              </a:rPr>
              <a:t>Ruta</a:t>
            </a:r>
            <a:r>
              <a:rPr sz="1100" spc="-1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crítica: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b="1" spc="-120" dirty="0">
                <a:latin typeface="Tahoma"/>
                <a:cs typeface="Tahoma"/>
              </a:rPr>
              <a:t>1</a:t>
            </a:r>
            <a:r>
              <a:rPr sz="1100" b="1" spc="-90" dirty="0">
                <a:latin typeface="Tahoma"/>
                <a:cs typeface="Tahoma"/>
              </a:rPr>
              <a:t> </a:t>
            </a:r>
            <a:r>
              <a:rPr sz="1100" b="1" spc="-440" dirty="0">
                <a:latin typeface="Tahoma"/>
                <a:cs typeface="Tahoma"/>
              </a:rPr>
              <a:t>→</a:t>
            </a:r>
            <a:r>
              <a:rPr sz="1100" b="1" spc="-95" dirty="0">
                <a:latin typeface="Tahoma"/>
                <a:cs typeface="Tahoma"/>
              </a:rPr>
              <a:t> </a:t>
            </a:r>
            <a:r>
              <a:rPr sz="1100" b="1" spc="-120" dirty="0">
                <a:latin typeface="Tahoma"/>
                <a:cs typeface="Tahoma"/>
              </a:rPr>
              <a:t>2</a:t>
            </a:r>
            <a:r>
              <a:rPr sz="1100" b="1" spc="-85" dirty="0">
                <a:latin typeface="Tahoma"/>
                <a:cs typeface="Tahoma"/>
              </a:rPr>
              <a:t> </a:t>
            </a:r>
            <a:r>
              <a:rPr sz="1100" b="1" spc="-440" dirty="0">
                <a:latin typeface="Tahoma"/>
                <a:cs typeface="Tahoma"/>
              </a:rPr>
              <a:t>→</a:t>
            </a:r>
            <a:r>
              <a:rPr sz="1100" b="1" spc="-90" dirty="0">
                <a:latin typeface="Tahoma"/>
                <a:cs typeface="Tahoma"/>
              </a:rPr>
              <a:t> </a:t>
            </a:r>
            <a:r>
              <a:rPr sz="1100" b="1" spc="-120" dirty="0">
                <a:latin typeface="Tahoma"/>
                <a:cs typeface="Tahoma"/>
              </a:rPr>
              <a:t>4</a:t>
            </a:r>
            <a:r>
              <a:rPr sz="1100" b="1" spc="-95" dirty="0">
                <a:latin typeface="Tahoma"/>
                <a:cs typeface="Tahoma"/>
              </a:rPr>
              <a:t> </a:t>
            </a:r>
            <a:r>
              <a:rPr sz="1100" b="1" spc="-440" dirty="0">
                <a:latin typeface="Tahoma"/>
                <a:cs typeface="Tahoma"/>
              </a:rPr>
              <a:t>→</a:t>
            </a:r>
            <a:r>
              <a:rPr sz="1100" b="1" spc="-90" dirty="0">
                <a:latin typeface="Tahoma"/>
                <a:cs typeface="Tahoma"/>
              </a:rPr>
              <a:t> </a:t>
            </a:r>
            <a:r>
              <a:rPr sz="1100" b="1" spc="-120" dirty="0">
                <a:latin typeface="Tahoma"/>
                <a:cs typeface="Tahoma"/>
              </a:rPr>
              <a:t>5</a:t>
            </a:r>
            <a:r>
              <a:rPr sz="1100" b="1" spc="-95" dirty="0">
                <a:latin typeface="Tahoma"/>
                <a:cs typeface="Tahoma"/>
              </a:rPr>
              <a:t> </a:t>
            </a:r>
            <a:r>
              <a:rPr sz="1100" b="1" spc="-440" dirty="0">
                <a:latin typeface="Tahoma"/>
                <a:cs typeface="Tahoma"/>
              </a:rPr>
              <a:t>→</a:t>
            </a:r>
            <a:r>
              <a:rPr sz="1100" b="1" spc="-85" dirty="0">
                <a:latin typeface="Tahoma"/>
                <a:cs typeface="Tahoma"/>
              </a:rPr>
              <a:t> </a:t>
            </a:r>
            <a:r>
              <a:rPr sz="1100" b="1" spc="-120" dirty="0">
                <a:latin typeface="Tahoma"/>
                <a:cs typeface="Tahoma"/>
              </a:rPr>
              <a:t>6</a:t>
            </a:r>
            <a:r>
              <a:rPr sz="1100" b="1" spc="-8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(A-</a:t>
            </a:r>
            <a:r>
              <a:rPr sz="1100" spc="-10" dirty="0">
                <a:latin typeface="Tahoma"/>
                <a:cs typeface="Tahoma"/>
              </a:rPr>
              <a:t>B-</a:t>
            </a:r>
            <a:r>
              <a:rPr sz="1100" spc="-20" dirty="0">
                <a:latin typeface="Tahoma"/>
                <a:cs typeface="Tahoma"/>
              </a:rPr>
              <a:t>D-</a:t>
            </a:r>
            <a:r>
              <a:rPr sz="1100" spc="-25" dirty="0">
                <a:latin typeface="Tahoma"/>
                <a:cs typeface="Tahoma"/>
              </a:rPr>
              <a:t>E-F) </a:t>
            </a:r>
            <a:r>
              <a:rPr sz="1100" spc="-10" dirty="0">
                <a:latin typeface="Tahoma"/>
                <a:cs typeface="Tahoma"/>
              </a:rPr>
              <a:t>Duración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total: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b="1" spc="-105" dirty="0">
                <a:latin typeface="Tahoma"/>
                <a:cs typeface="Tahoma"/>
              </a:rPr>
              <a:t>12.00</a:t>
            </a:r>
            <a:r>
              <a:rPr sz="1100" b="1" spc="-70" dirty="0">
                <a:latin typeface="Tahoma"/>
                <a:cs typeface="Tahoma"/>
              </a:rPr>
              <a:t> </a:t>
            </a:r>
            <a:r>
              <a:rPr sz="1100" b="1" spc="-20" dirty="0">
                <a:latin typeface="Tahoma"/>
                <a:cs typeface="Tahoma"/>
              </a:rPr>
              <a:t>días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8120" y="5476113"/>
            <a:ext cx="5477510" cy="1419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95" dirty="0">
                <a:latin typeface="Tahoma"/>
                <a:cs typeface="Tahoma"/>
              </a:rPr>
              <a:t>EJERCICIO</a:t>
            </a:r>
            <a:r>
              <a:rPr sz="1100" b="1" spc="-60" dirty="0">
                <a:latin typeface="Tahoma"/>
                <a:cs typeface="Tahoma"/>
              </a:rPr>
              <a:t> </a:t>
            </a:r>
            <a:r>
              <a:rPr sz="1100" b="1" spc="-120" dirty="0">
                <a:latin typeface="Tahoma"/>
                <a:cs typeface="Tahoma"/>
              </a:rPr>
              <a:t>4</a:t>
            </a:r>
            <a:r>
              <a:rPr sz="1100" b="1" spc="-70" dirty="0">
                <a:latin typeface="Tahoma"/>
                <a:cs typeface="Tahoma"/>
              </a:rPr>
              <a:t> </a:t>
            </a:r>
            <a:r>
              <a:rPr sz="1100" b="1" dirty="0">
                <a:latin typeface="Tahoma"/>
                <a:cs typeface="Tahoma"/>
              </a:rPr>
              <a:t>—</a:t>
            </a:r>
            <a:r>
              <a:rPr sz="1100" b="1" spc="-75" dirty="0">
                <a:latin typeface="Tahoma"/>
                <a:cs typeface="Tahoma"/>
              </a:rPr>
              <a:t> </a:t>
            </a:r>
            <a:r>
              <a:rPr sz="1100" b="1" spc="-60" dirty="0">
                <a:latin typeface="Tahoma"/>
                <a:cs typeface="Tahoma"/>
              </a:rPr>
              <a:t>Desarrollo</a:t>
            </a:r>
            <a:r>
              <a:rPr sz="1100" b="1" spc="-55" dirty="0">
                <a:latin typeface="Tahoma"/>
                <a:cs typeface="Tahoma"/>
              </a:rPr>
              <a:t> </a:t>
            </a:r>
            <a:r>
              <a:rPr sz="1100" b="1" spc="-50" dirty="0">
                <a:latin typeface="Tahoma"/>
                <a:cs typeface="Tahoma"/>
              </a:rPr>
              <a:t>de</a:t>
            </a:r>
            <a:r>
              <a:rPr sz="1100" b="1" spc="-80" dirty="0">
                <a:latin typeface="Tahoma"/>
                <a:cs typeface="Tahoma"/>
              </a:rPr>
              <a:t> </a:t>
            </a:r>
            <a:r>
              <a:rPr sz="1100" b="1" spc="-70" dirty="0">
                <a:latin typeface="Tahoma"/>
                <a:cs typeface="Tahoma"/>
              </a:rPr>
              <a:t>un</a:t>
            </a:r>
            <a:r>
              <a:rPr sz="1100" b="1" spc="-65" dirty="0">
                <a:latin typeface="Tahoma"/>
                <a:cs typeface="Tahoma"/>
              </a:rPr>
              <a:t> </a:t>
            </a:r>
            <a:r>
              <a:rPr sz="1100" b="1" spc="-55" dirty="0">
                <a:latin typeface="Tahoma"/>
                <a:cs typeface="Tahoma"/>
              </a:rPr>
              <a:t>sistema</a:t>
            </a:r>
            <a:r>
              <a:rPr sz="1100" b="1" spc="-60" dirty="0">
                <a:latin typeface="Tahoma"/>
                <a:cs typeface="Tahoma"/>
              </a:rPr>
              <a:t> </a:t>
            </a:r>
            <a:r>
              <a:rPr sz="1100" b="1" spc="-25" dirty="0">
                <a:latin typeface="Tahoma"/>
                <a:cs typeface="Tahoma"/>
              </a:rPr>
              <a:t>web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10000"/>
              </a:lnSpc>
              <a:spcBef>
                <a:spcPts val="790"/>
              </a:spcBef>
            </a:pPr>
            <a:r>
              <a:rPr sz="1100" spc="-10" dirty="0">
                <a:latin typeface="Tahoma"/>
                <a:cs typeface="Tahoma"/>
              </a:rPr>
              <a:t>Enunciado: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Análisis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requisitos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40" dirty="0">
                <a:latin typeface="Tahoma"/>
                <a:cs typeface="Tahoma"/>
              </a:rPr>
              <a:t>→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Diseño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40" dirty="0">
                <a:latin typeface="Tahoma"/>
                <a:cs typeface="Tahoma"/>
              </a:rPr>
              <a:t>→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Programación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backend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/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frontend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440" dirty="0">
                <a:latin typeface="Tahoma"/>
                <a:cs typeface="Tahoma"/>
              </a:rPr>
              <a:t>→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Integración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90" dirty="0">
                <a:latin typeface="Tahoma"/>
                <a:cs typeface="Tahoma"/>
              </a:rPr>
              <a:t>→</a:t>
            </a:r>
            <a:r>
              <a:rPr sz="1100" dirty="0">
                <a:latin typeface="Tahoma"/>
                <a:cs typeface="Tahoma"/>
              </a:rPr>
              <a:t> Pruebas</a:t>
            </a:r>
            <a:r>
              <a:rPr sz="1100" spc="-11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finales.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1100" spc="-10" dirty="0">
                <a:latin typeface="Tahoma"/>
                <a:cs typeface="Tahoma"/>
              </a:rPr>
              <a:t>Tabla:</a:t>
            </a:r>
            <a:endParaRPr sz="1100">
              <a:latin typeface="Tahoma"/>
              <a:cs typeface="Tahoma"/>
            </a:endParaRPr>
          </a:p>
          <a:p>
            <a:pPr marL="12700" marR="3045460">
              <a:lnSpc>
                <a:spcPct val="110000"/>
              </a:lnSpc>
              <a:spcBef>
                <a:spcPts val="795"/>
              </a:spcBef>
            </a:pPr>
            <a:r>
              <a:rPr sz="1100" spc="-20" dirty="0">
                <a:latin typeface="Tahoma"/>
                <a:cs typeface="Tahoma"/>
              </a:rPr>
              <a:t>Ruta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crítica: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b="1" spc="-120" dirty="0">
                <a:latin typeface="Tahoma"/>
                <a:cs typeface="Tahoma"/>
              </a:rPr>
              <a:t>1</a:t>
            </a:r>
            <a:r>
              <a:rPr sz="1100" b="1" spc="-80" dirty="0">
                <a:latin typeface="Tahoma"/>
                <a:cs typeface="Tahoma"/>
              </a:rPr>
              <a:t> </a:t>
            </a:r>
            <a:r>
              <a:rPr sz="1100" b="1" spc="-440" dirty="0">
                <a:latin typeface="Tahoma"/>
                <a:cs typeface="Tahoma"/>
              </a:rPr>
              <a:t>→</a:t>
            </a:r>
            <a:r>
              <a:rPr sz="1100" b="1" spc="-95" dirty="0">
                <a:latin typeface="Tahoma"/>
                <a:cs typeface="Tahoma"/>
              </a:rPr>
              <a:t> </a:t>
            </a:r>
            <a:r>
              <a:rPr sz="1100" b="1" spc="-120" dirty="0">
                <a:latin typeface="Tahoma"/>
                <a:cs typeface="Tahoma"/>
              </a:rPr>
              <a:t>2</a:t>
            </a:r>
            <a:r>
              <a:rPr sz="1100" b="1" spc="-80" dirty="0">
                <a:latin typeface="Tahoma"/>
                <a:cs typeface="Tahoma"/>
              </a:rPr>
              <a:t> </a:t>
            </a:r>
            <a:r>
              <a:rPr sz="1100" b="1" spc="-440" dirty="0">
                <a:latin typeface="Tahoma"/>
                <a:cs typeface="Tahoma"/>
              </a:rPr>
              <a:t>→</a:t>
            </a:r>
            <a:r>
              <a:rPr sz="1100" b="1" spc="-80" dirty="0">
                <a:latin typeface="Tahoma"/>
                <a:cs typeface="Tahoma"/>
              </a:rPr>
              <a:t> </a:t>
            </a:r>
            <a:r>
              <a:rPr sz="1100" b="1" spc="-120" dirty="0">
                <a:latin typeface="Tahoma"/>
                <a:cs typeface="Tahoma"/>
              </a:rPr>
              <a:t>3</a:t>
            </a:r>
            <a:r>
              <a:rPr sz="1100" b="1" spc="-95" dirty="0">
                <a:latin typeface="Tahoma"/>
                <a:cs typeface="Tahoma"/>
              </a:rPr>
              <a:t> </a:t>
            </a:r>
            <a:r>
              <a:rPr sz="1100" b="1" spc="-440" dirty="0">
                <a:latin typeface="Tahoma"/>
                <a:cs typeface="Tahoma"/>
              </a:rPr>
              <a:t>→</a:t>
            </a:r>
            <a:r>
              <a:rPr sz="1100" b="1" spc="-80" dirty="0">
                <a:latin typeface="Tahoma"/>
                <a:cs typeface="Tahoma"/>
              </a:rPr>
              <a:t> </a:t>
            </a:r>
            <a:r>
              <a:rPr sz="1100" b="1" spc="-120" dirty="0">
                <a:latin typeface="Tahoma"/>
                <a:cs typeface="Tahoma"/>
              </a:rPr>
              <a:t>5</a:t>
            </a:r>
            <a:r>
              <a:rPr sz="1100" b="1" spc="-90" dirty="0">
                <a:latin typeface="Tahoma"/>
                <a:cs typeface="Tahoma"/>
              </a:rPr>
              <a:t> </a:t>
            </a:r>
            <a:r>
              <a:rPr sz="1100" b="1" spc="-440" dirty="0">
                <a:latin typeface="Tahoma"/>
                <a:cs typeface="Tahoma"/>
              </a:rPr>
              <a:t>→</a:t>
            </a:r>
            <a:r>
              <a:rPr sz="1100" b="1" spc="-85" dirty="0">
                <a:latin typeface="Tahoma"/>
                <a:cs typeface="Tahoma"/>
              </a:rPr>
              <a:t> </a:t>
            </a:r>
            <a:r>
              <a:rPr sz="1100" b="1" spc="-120" dirty="0">
                <a:latin typeface="Tahoma"/>
                <a:cs typeface="Tahoma"/>
              </a:rPr>
              <a:t>6</a:t>
            </a:r>
            <a:r>
              <a:rPr sz="1100" b="1" spc="-7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(A-</a:t>
            </a:r>
            <a:r>
              <a:rPr sz="1100" spc="-10" dirty="0">
                <a:latin typeface="Tahoma"/>
                <a:cs typeface="Tahoma"/>
              </a:rPr>
              <a:t>B-</a:t>
            </a:r>
            <a:r>
              <a:rPr sz="1100" dirty="0">
                <a:latin typeface="Tahoma"/>
                <a:cs typeface="Tahoma"/>
              </a:rPr>
              <a:t>C-</a:t>
            </a:r>
            <a:r>
              <a:rPr sz="1100" spc="-25" dirty="0">
                <a:latin typeface="Tahoma"/>
                <a:cs typeface="Tahoma"/>
              </a:rPr>
              <a:t>E-F) </a:t>
            </a:r>
            <a:r>
              <a:rPr sz="1100" spc="-10" dirty="0">
                <a:latin typeface="Tahoma"/>
                <a:cs typeface="Tahoma"/>
              </a:rPr>
              <a:t>Duración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total: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b="1" spc="-135" dirty="0">
                <a:latin typeface="Tahoma"/>
                <a:cs typeface="Tahoma"/>
              </a:rPr>
              <a:t>1G.51</a:t>
            </a:r>
            <a:r>
              <a:rPr sz="1100" b="1" spc="-65" dirty="0">
                <a:latin typeface="Tahoma"/>
                <a:cs typeface="Tahoma"/>
              </a:rPr>
              <a:t> </a:t>
            </a:r>
            <a:r>
              <a:rPr sz="1100" b="1" spc="-20" dirty="0">
                <a:latin typeface="Tahoma"/>
                <a:cs typeface="Tahoma"/>
              </a:rPr>
              <a:t>días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0135" y="3267455"/>
            <a:ext cx="4861306" cy="210489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02379" y="6088634"/>
            <a:ext cx="3733800" cy="164846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70959" y="1577213"/>
            <a:ext cx="3062224" cy="133604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1980" y="7787071"/>
            <a:ext cx="4511040" cy="21539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8120" y="1164082"/>
            <a:ext cx="5369560" cy="1132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95" dirty="0">
                <a:latin typeface="Tahoma"/>
                <a:cs typeface="Tahoma"/>
              </a:rPr>
              <a:t>EJERCICIO</a:t>
            </a:r>
            <a:r>
              <a:rPr sz="1100" b="1" spc="-60" dirty="0">
                <a:latin typeface="Tahoma"/>
                <a:cs typeface="Tahoma"/>
              </a:rPr>
              <a:t> </a:t>
            </a:r>
            <a:r>
              <a:rPr sz="1100" b="1" spc="-120" dirty="0">
                <a:latin typeface="Tahoma"/>
                <a:cs typeface="Tahoma"/>
              </a:rPr>
              <a:t>5</a:t>
            </a:r>
            <a:r>
              <a:rPr sz="1100" b="1" spc="-70" dirty="0">
                <a:latin typeface="Tahoma"/>
                <a:cs typeface="Tahoma"/>
              </a:rPr>
              <a:t> </a:t>
            </a:r>
            <a:r>
              <a:rPr sz="1100" b="1" dirty="0">
                <a:latin typeface="Tahoma"/>
                <a:cs typeface="Tahoma"/>
              </a:rPr>
              <a:t>—</a:t>
            </a:r>
            <a:r>
              <a:rPr sz="1100" b="1" spc="-70" dirty="0">
                <a:latin typeface="Tahoma"/>
                <a:cs typeface="Tahoma"/>
              </a:rPr>
              <a:t> </a:t>
            </a:r>
            <a:r>
              <a:rPr sz="1100" b="1" spc="-75" dirty="0">
                <a:latin typeface="Tahoma"/>
                <a:cs typeface="Tahoma"/>
              </a:rPr>
              <a:t>Lanzamiento</a:t>
            </a:r>
            <a:r>
              <a:rPr sz="1100" b="1" spc="-60" dirty="0">
                <a:latin typeface="Tahoma"/>
                <a:cs typeface="Tahoma"/>
              </a:rPr>
              <a:t> </a:t>
            </a:r>
            <a:r>
              <a:rPr sz="1100" b="1" spc="-50" dirty="0">
                <a:latin typeface="Tahoma"/>
                <a:cs typeface="Tahoma"/>
              </a:rPr>
              <a:t>de</a:t>
            </a:r>
            <a:r>
              <a:rPr sz="1100" b="1" spc="-75" dirty="0">
                <a:latin typeface="Tahoma"/>
                <a:cs typeface="Tahoma"/>
              </a:rPr>
              <a:t> </a:t>
            </a:r>
            <a:r>
              <a:rPr sz="1100" b="1" spc="-70" dirty="0">
                <a:latin typeface="Tahoma"/>
                <a:cs typeface="Tahoma"/>
              </a:rPr>
              <a:t>un</a:t>
            </a:r>
            <a:r>
              <a:rPr sz="1100" b="1" spc="-75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ahoma"/>
                <a:cs typeface="Tahoma"/>
              </a:rPr>
              <a:t>producto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10000"/>
              </a:lnSpc>
              <a:spcBef>
                <a:spcPts val="795"/>
              </a:spcBef>
            </a:pPr>
            <a:r>
              <a:rPr sz="1100" spc="-10" dirty="0">
                <a:latin typeface="Tahoma"/>
                <a:cs typeface="Tahoma"/>
              </a:rPr>
              <a:t>Enunciado: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Investigación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mercado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40" dirty="0">
                <a:latin typeface="Tahoma"/>
                <a:cs typeface="Tahoma"/>
              </a:rPr>
              <a:t>→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Diseño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empaque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440" dirty="0">
                <a:latin typeface="Tahoma"/>
                <a:cs typeface="Tahoma"/>
              </a:rPr>
              <a:t>→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Producción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piloto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440" dirty="0">
                <a:latin typeface="Tahoma"/>
                <a:cs typeface="Tahoma"/>
              </a:rPr>
              <a:t>→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Publicidad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90" dirty="0">
                <a:latin typeface="Tahoma"/>
                <a:cs typeface="Tahoma"/>
              </a:rPr>
              <a:t>→</a:t>
            </a:r>
            <a:r>
              <a:rPr sz="1100" dirty="0">
                <a:latin typeface="Tahoma"/>
                <a:cs typeface="Tahoma"/>
              </a:rPr>
              <a:t> Distribución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440" dirty="0">
                <a:latin typeface="Tahoma"/>
                <a:cs typeface="Tahoma"/>
              </a:rPr>
              <a:t>→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Lanzamiento.</a:t>
            </a:r>
            <a:endParaRPr sz="1100">
              <a:latin typeface="Tahoma"/>
              <a:cs typeface="Tahoma"/>
            </a:endParaRPr>
          </a:p>
          <a:p>
            <a:pPr marL="12700" marR="2937510">
              <a:lnSpc>
                <a:spcPct val="110000"/>
              </a:lnSpc>
              <a:spcBef>
                <a:spcPts val="790"/>
              </a:spcBef>
            </a:pPr>
            <a:r>
              <a:rPr sz="1100" spc="-20" dirty="0">
                <a:latin typeface="Tahoma"/>
                <a:cs typeface="Tahoma"/>
              </a:rPr>
              <a:t>Ruta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crítica: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b="1" spc="-120" dirty="0">
                <a:latin typeface="Tahoma"/>
                <a:cs typeface="Tahoma"/>
              </a:rPr>
              <a:t>1</a:t>
            </a:r>
            <a:r>
              <a:rPr sz="1100" b="1" spc="-80" dirty="0">
                <a:latin typeface="Tahoma"/>
                <a:cs typeface="Tahoma"/>
              </a:rPr>
              <a:t> </a:t>
            </a:r>
            <a:r>
              <a:rPr sz="1100" b="1" spc="-440" dirty="0">
                <a:latin typeface="Tahoma"/>
                <a:cs typeface="Tahoma"/>
              </a:rPr>
              <a:t>→</a:t>
            </a:r>
            <a:r>
              <a:rPr sz="1100" b="1" spc="-95" dirty="0">
                <a:latin typeface="Tahoma"/>
                <a:cs typeface="Tahoma"/>
              </a:rPr>
              <a:t> </a:t>
            </a:r>
            <a:r>
              <a:rPr sz="1100" b="1" spc="-120" dirty="0">
                <a:latin typeface="Tahoma"/>
                <a:cs typeface="Tahoma"/>
              </a:rPr>
              <a:t>2</a:t>
            </a:r>
            <a:r>
              <a:rPr sz="1100" b="1" spc="-80" dirty="0">
                <a:latin typeface="Tahoma"/>
                <a:cs typeface="Tahoma"/>
              </a:rPr>
              <a:t> </a:t>
            </a:r>
            <a:r>
              <a:rPr sz="1100" b="1" spc="-440" dirty="0">
                <a:latin typeface="Tahoma"/>
                <a:cs typeface="Tahoma"/>
              </a:rPr>
              <a:t>→</a:t>
            </a:r>
            <a:r>
              <a:rPr sz="1100" b="1" spc="-80" dirty="0">
                <a:latin typeface="Tahoma"/>
                <a:cs typeface="Tahoma"/>
              </a:rPr>
              <a:t> </a:t>
            </a:r>
            <a:r>
              <a:rPr sz="1100" b="1" spc="-120" dirty="0">
                <a:latin typeface="Tahoma"/>
                <a:cs typeface="Tahoma"/>
              </a:rPr>
              <a:t>3</a:t>
            </a:r>
            <a:r>
              <a:rPr sz="1100" b="1" spc="-95" dirty="0">
                <a:latin typeface="Tahoma"/>
                <a:cs typeface="Tahoma"/>
              </a:rPr>
              <a:t> </a:t>
            </a:r>
            <a:r>
              <a:rPr sz="1100" b="1" spc="-440" dirty="0">
                <a:latin typeface="Tahoma"/>
                <a:cs typeface="Tahoma"/>
              </a:rPr>
              <a:t>→</a:t>
            </a:r>
            <a:r>
              <a:rPr sz="1100" b="1" spc="-80" dirty="0">
                <a:latin typeface="Tahoma"/>
                <a:cs typeface="Tahoma"/>
              </a:rPr>
              <a:t> </a:t>
            </a:r>
            <a:r>
              <a:rPr sz="1100" b="1" spc="-120" dirty="0">
                <a:latin typeface="Tahoma"/>
                <a:cs typeface="Tahoma"/>
              </a:rPr>
              <a:t>5</a:t>
            </a:r>
            <a:r>
              <a:rPr sz="1100" b="1" spc="-90" dirty="0">
                <a:latin typeface="Tahoma"/>
                <a:cs typeface="Tahoma"/>
              </a:rPr>
              <a:t> </a:t>
            </a:r>
            <a:r>
              <a:rPr sz="1100" b="1" spc="-440" dirty="0">
                <a:latin typeface="Tahoma"/>
                <a:cs typeface="Tahoma"/>
              </a:rPr>
              <a:t>→</a:t>
            </a:r>
            <a:r>
              <a:rPr sz="1100" b="1" spc="-85" dirty="0">
                <a:latin typeface="Tahoma"/>
                <a:cs typeface="Tahoma"/>
              </a:rPr>
              <a:t> </a:t>
            </a:r>
            <a:r>
              <a:rPr sz="1100" b="1" spc="-120" dirty="0">
                <a:latin typeface="Tahoma"/>
                <a:cs typeface="Tahoma"/>
              </a:rPr>
              <a:t>6</a:t>
            </a:r>
            <a:r>
              <a:rPr sz="1100" b="1" spc="-7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(A-</a:t>
            </a:r>
            <a:r>
              <a:rPr sz="1100" spc="-10" dirty="0">
                <a:latin typeface="Tahoma"/>
                <a:cs typeface="Tahoma"/>
              </a:rPr>
              <a:t>B-</a:t>
            </a:r>
            <a:r>
              <a:rPr sz="1100" dirty="0">
                <a:latin typeface="Tahoma"/>
                <a:cs typeface="Tahoma"/>
              </a:rPr>
              <a:t>C-</a:t>
            </a:r>
            <a:r>
              <a:rPr sz="1100" spc="-25" dirty="0">
                <a:latin typeface="Tahoma"/>
                <a:cs typeface="Tahoma"/>
              </a:rPr>
              <a:t>E-F) </a:t>
            </a:r>
            <a:r>
              <a:rPr sz="1100" spc="-10" dirty="0">
                <a:latin typeface="Tahoma"/>
                <a:cs typeface="Tahoma"/>
              </a:rPr>
              <a:t>Duración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total: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b="1" spc="-105" dirty="0">
                <a:latin typeface="Tahoma"/>
                <a:cs typeface="Tahoma"/>
              </a:rPr>
              <a:t>18.68</a:t>
            </a:r>
            <a:r>
              <a:rPr sz="1100" b="1" spc="-70" dirty="0">
                <a:latin typeface="Tahoma"/>
                <a:cs typeface="Tahoma"/>
              </a:rPr>
              <a:t> </a:t>
            </a:r>
            <a:r>
              <a:rPr sz="1100" b="1" spc="-20" dirty="0">
                <a:latin typeface="Tahoma"/>
                <a:cs typeface="Tahoma"/>
              </a:rPr>
              <a:t>días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0135" y="2410967"/>
            <a:ext cx="3909060" cy="172211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0135" y="4533900"/>
            <a:ext cx="5612129" cy="256476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8120" y="877570"/>
            <a:ext cx="5499100" cy="3685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90" dirty="0">
                <a:latin typeface="Tahoma"/>
                <a:cs typeface="Tahoma"/>
              </a:rPr>
              <a:t>EJERCICIOS</a:t>
            </a:r>
            <a:r>
              <a:rPr sz="1100" b="1" spc="-65" dirty="0">
                <a:latin typeface="Tahoma"/>
                <a:cs typeface="Tahoma"/>
              </a:rPr>
              <a:t> </a:t>
            </a:r>
            <a:r>
              <a:rPr sz="1100" b="1" spc="-60" dirty="0">
                <a:latin typeface="Tahoma"/>
                <a:cs typeface="Tahoma"/>
              </a:rPr>
              <a:t>EN</a:t>
            </a:r>
            <a:r>
              <a:rPr sz="1100" b="1" spc="-65" dirty="0">
                <a:latin typeface="Tahoma"/>
                <a:cs typeface="Tahoma"/>
              </a:rPr>
              <a:t> </a:t>
            </a:r>
            <a:r>
              <a:rPr sz="1100" b="1" spc="-80" dirty="0">
                <a:latin typeface="Tahoma"/>
                <a:cs typeface="Tahoma"/>
              </a:rPr>
              <a:t>POMQM</a:t>
            </a:r>
            <a:r>
              <a:rPr sz="1100" b="1" spc="-65" dirty="0">
                <a:latin typeface="Tahoma"/>
                <a:cs typeface="Tahoma"/>
              </a:rPr>
              <a:t> </a:t>
            </a:r>
            <a:r>
              <a:rPr sz="1100" b="1" spc="-105" dirty="0">
                <a:latin typeface="Tahoma"/>
                <a:cs typeface="Tahoma"/>
              </a:rPr>
              <a:t>Y</a:t>
            </a:r>
            <a:r>
              <a:rPr sz="1100" b="1" spc="-50" dirty="0">
                <a:latin typeface="Tahoma"/>
                <a:cs typeface="Tahoma"/>
              </a:rPr>
              <a:t> </a:t>
            </a:r>
            <a:r>
              <a:rPr sz="1100" b="1" spc="-105" dirty="0">
                <a:latin typeface="Tahoma"/>
                <a:cs typeface="Tahoma"/>
              </a:rPr>
              <a:t>RSTUDIO</a:t>
            </a:r>
            <a:r>
              <a:rPr sz="1100" b="1" spc="-40" dirty="0">
                <a:latin typeface="Tahoma"/>
                <a:cs typeface="Tahoma"/>
              </a:rPr>
              <a:t> </a:t>
            </a:r>
            <a:r>
              <a:rPr sz="1100" b="1" spc="-70" dirty="0">
                <a:latin typeface="Tahoma"/>
                <a:cs typeface="Tahoma"/>
              </a:rPr>
              <a:t>DE</a:t>
            </a:r>
            <a:r>
              <a:rPr sz="1100" b="1" spc="-65" dirty="0">
                <a:latin typeface="Tahoma"/>
                <a:cs typeface="Tahoma"/>
              </a:rPr>
              <a:t> </a:t>
            </a:r>
            <a:r>
              <a:rPr sz="1100" b="1" spc="-85" dirty="0">
                <a:latin typeface="Tahoma"/>
                <a:cs typeface="Tahoma"/>
              </a:rPr>
              <a:t>PROGRAMACIÓN</a:t>
            </a:r>
            <a:r>
              <a:rPr sz="1100" b="1" spc="-75" dirty="0">
                <a:latin typeface="Tahoma"/>
                <a:cs typeface="Tahoma"/>
              </a:rPr>
              <a:t> </a:t>
            </a:r>
            <a:r>
              <a:rPr sz="1100" b="1" spc="-65" dirty="0">
                <a:latin typeface="Tahoma"/>
                <a:cs typeface="Tahoma"/>
              </a:rPr>
              <a:t>DE </a:t>
            </a:r>
            <a:r>
              <a:rPr sz="1100" b="1" spc="-80" dirty="0">
                <a:latin typeface="Tahoma"/>
                <a:cs typeface="Tahoma"/>
              </a:rPr>
              <a:t>PROYECTOS</a:t>
            </a:r>
            <a:r>
              <a:rPr sz="1100" b="1" spc="-65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ahoma"/>
                <a:cs typeface="Tahoma"/>
              </a:rPr>
              <a:t>(CPM)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1100">
              <a:latin typeface="Tahoma"/>
              <a:cs typeface="Tahoma"/>
            </a:endParaRPr>
          </a:p>
          <a:p>
            <a:pPr marL="12700" marR="2560955">
              <a:lnSpc>
                <a:spcPct val="170900"/>
              </a:lnSpc>
            </a:pPr>
            <a:r>
              <a:rPr sz="1100" b="1" spc="-50" dirty="0">
                <a:latin typeface="Tahoma"/>
                <a:cs typeface="Tahoma"/>
              </a:rPr>
              <a:t>Ejercicio </a:t>
            </a:r>
            <a:r>
              <a:rPr sz="1100" b="1" spc="-120" dirty="0">
                <a:latin typeface="Tahoma"/>
                <a:cs typeface="Tahoma"/>
              </a:rPr>
              <a:t>1</a:t>
            </a:r>
            <a:r>
              <a:rPr sz="1100" b="1" spc="-60" dirty="0">
                <a:latin typeface="Tahoma"/>
                <a:cs typeface="Tahoma"/>
              </a:rPr>
              <a:t> </a:t>
            </a:r>
            <a:r>
              <a:rPr sz="1100" b="1" dirty="0">
                <a:latin typeface="Tahoma"/>
                <a:cs typeface="Tahoma"/>
              </a:rPr>
              <a:t>—</a:t>
            </a:r>
            <a:r>
              <a:rPr sz="1100" b="1" spc="-60" dirty="0">
                <a:latin typeface="Tahoma"/>
                <a:cs typeface="Tahoma"/>
              </a:rPr>
              <a:t> </a:t>
            </a:r>
            <a:r>
              <a:rPr sz="1100" b="1" spc="-70" dirty="0">
                <a:latin typeface="Tahoma"/>
                <a:cs typeface="Tahoma"/>
              </a:rPr>
              <a:t>Proyecto</a:t>
            </a:r>
            <a:r>
              <a:rPr sz="1100" b="1" spc="-60" dirty="0">
                <a:latin typeface="Tahoma"/>
                <a:cs typeface="Tahoma"/>
              </a:rPr>
              <a:t> </a:t>
            </a:r>
            <a:r>
              <a:rPr sz="1100" b="1" spc="-55" dirty="0">
                <a:latin typeface="Tahoma"/>
                <a:cs typeface="Tahoma"/>
              </a:rPr>
              <a:t>de </a:t>
            </a:r>
            <a:r>
              <a:rPr sz="1100" b="1" spc="-45" dirty="0">
                <a:latin typeface="Tahoma"/>
                <a:cs typeface="Tahoma"/>
              </a:rPr>
              <a:t>construcción</a:t>
            </a:r>
            <a:r>
              <a:rPr sz="1100" b="1" spc="-70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ahoma"/>
                <a:cs typeface="Tahoma"/>
              </a:rPr>
              <a:t>básico Enunciado: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ts val="1450"/>
              </a:lnSpc>
              <a:spcBef>
                <a:spcPts val="60"/>
              </a:spcBef>
            </a:pPr>
            <a:r>
              <a:rPr sz="1100" dirty="0">
                <a:latin typeface="Tahoma"/>
                <a:cs typeface="Tahoma"/>
              </a:rPr>
              <a:t>Una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empresa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está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desarrollando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un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pequeño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proyecto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construcción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que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requiere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cuatro </a:t>
            </a:r>
            <a:r>
              <a:rPr sz="1100" dirty="0">
                <a:latin typeface="Tahoma"/>
                <a:cs typeface="Tahoma"/>
              </a:rPr>
              <a:t>actividades.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Las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relaciones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entre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ellas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y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sus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tiempos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estimados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son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los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siguientes:</a:t>
            </a:r>
            <a:endParaRPr sz="1100">
              <a:latin typeface="Tahoma"/>
              <a:cs typeface="Tahoma"/>
            </a:endParaRPr>
          </a:p>
          <a:p>
            <a:pPr marL="469265" indent="-228600">
              <a:lnSpc>
                <a:spcPct val="100000"/>
              </a:lnSpc>
              <a:spcBef>
                <a:spcPts val="86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spc="-10" dirty="0">
                <a:latin typeface="Tahoma"/>
                <a:cs typeface="Tahoma"/>
              </a:rPr>
              <a:t>Actividad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1: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Preparación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del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terreno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—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3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días.</a:t>
            </a:r>
            <a:endParaRPr sz="1100">
              <a:latin typeface="Tahoma"/>
              <a:cs typeface="Tahoma"/>
            </a:endParaRPr>
          </a:p>
          <a:p>
            <a:pPr marL="469265" indent="-228600">
              <a:lnSpc>
                <a:spcPct val="100000"/>
              </a:lnSpc>
              <a:spcBef>
                <a:spcPts val="92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spc="-10" dirty="0">
                <a:latin typeface="Tahoma"/>
                <a:cs typeface="Tahoma"/>
              </a:rPr>
              <a:t>Actividad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2: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Construcción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cimientos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—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4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días,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depende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actividad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1.</a:t>
            </a:r>
            <a:endParaRPr sz="1100">
              <a:latin typeface="Tahoma"/>
              <a:cs typeface="Tahoma"/>
            </a:endParaRPr>
          </a:p>
          <a:p>
            <a:pPr marL="469265" indent="-228600">
              <a:lnSpc>
                <a:spcPct val="100000"/>
              </a:lnSpc>
              <a:spcBef>
                <a:spcPts val="92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spc="-10" dirty="0">
                <a:latin typeface="Tahoma"/>
                <a:cs typeface="Tahoma"/>
              </a:rPr>
              <a:t>Actividad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3: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Instalación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drenaje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—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2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días,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depende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actividad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1.</a:t>
            </a:r>
            <a:endParaRPr sz="1100">
              <a:latin typeface="Tahoma"/>
              <a:cs typeface="Tahoma"/>
            </a:endParaRPr>
          </a:p>
          <a:p>
            <a:pPr marL="469265" indent="-228600">
              <a:lnSpc>
                <a:spcPct val="100000"/>
              </a:lnSpc>
              <a:spcBef>
                <a:spcPts val="940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spc="-10" dirty="0">
                <a:latin typeface="Tahoma"/>
                <a:cs typeface="Tahoma"/>
              </a:rPr>
              <a:t>Actividad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4: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Montaje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estructura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—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5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días,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depende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las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actividades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2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y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3.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b="1" spc="-55" dirty="0">
                <a:latin typeface="Tahoma"/>
                <a:cs typeface="Tahoma"/>
              </a:rPr>
              <a:t>Resultados</a:t>
            </a:r>
            <a:r>
              <a:rPr sz="1100" b="1" spc="-50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ahoma"/>
                <a:cs typeface="Tahoma"/>
              </a:rPr>
              <a:t>esperados: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-10" dirty="0">
                <a:latin typeface="Tahoma"/>
                <a:cs typeface="Tahoma"/>
              </a:rPr>
              <a:t>Duración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total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del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proyecto: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b="1" spc="-120" dirty="0">
                <a:latin typeface="Tahoma"/>
                <a:cs typeface="Tahoma"/>
              </a:rPr>
              <a:t>12</a:t>
            </a:r>
            <a:r>
              <a:rPr sz="1100" b="1" spc="-65" dirty="0">
                <a:latin typeface="Tahoma"/>
                <a:cs typeface="Tahoma"/>
              </a:rPr>
              <a:t> </a:t>
            </a:r>
            <a:r>
              <a:rPr sz="1100" b="1" spc="-20" dirty="0">
                <a:latin typeface="Tahoma"/>
                <a:cs typeface="Tahoma"/>
              </a:rPr>
              <a:t>días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spc="-20" dirty="0">
                <a:latin typeface="Tahoma"/>
                <a:cs typeface="Tahoma"/>
              </a:rPr>
              <a:t>Ruta</a:t>
            </a:r>
            <a:r>
              <a:rPr sz="1100" spc="-1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crítica:</a:t>
            </a:r>
            <a:r>
              <a:rPr sz="1100" spc="-110" dirty="0">
                <a:latin typeface="Tahoma"/>
                <a:cs typeface="Tahoma"/>
              </a:rPr>
              <a:t> </a:t>
            </a:r>
            <a:r>
              <a:rPr sz="1100" b="1" spc="-120" dirty="0">
                <a:latin typeface="Tahoma"/>
                <a:cs typeface="Tahoma"/>
              </a:rPr>
              <a:t>1</a:t>
            </a:r>
            <a:r>
              <a:rPr sz="1100" b="1" spc="-90" dirty="0">
                <a:latin typeface="Tahoma"/>
                <a:cs typeface="Tahoma"/>
              </a:rPr>
              <a:t> </a:t>
            </a:r>
            <a:r>
              <a:rPr sz="1100" b="1" spc="-440" dirty="0">
                <a:latin typeface="Tahoma"/>
                <a:cs typeface="Tahoma"/>
              </a:rPr>
              <a:t>→</a:t>
            </a:r>
            <a:r>
              <a:rPr sz="1100" b="1" spc="-100" dirty="0">
                <a:latin typeface="Tahoma"/>
                <a:cs typeface="Tahoma"/>
              </a:rPr>
              <a:t> </a:t>
            </a:r>
            <a:r>
              <a:rPr sz="1100" b="1" spc="-120" dirty="0">
                <a:latin typeface="Tahoma"/>
                <a:cs typeface="Tahoma"/>
              </a:rPr>
              <a:t>2</a:t>
            </a:r>
            <a:r>
              <a:rPr sz="1100" b="1" spc="-90" dirty="0">
                <a:latin typeface="Tahoma"/>
                <a:cs typeface="Tahoma"/>
              </a:rPr>
              <a:t> </a:t>
            </a:r>
            <a:r>
              <a:rPr sz="1100" b="1" spc="-440" dirty="0">
                <a:latin typeface="Tahoma"/>
                <a:cs typeface="Tahoma"/>
              </a:rPr>
              <a:t>→</a:t>
            </a:r>
            <a:r>
              <a:rPr sz="1100" b="1" spc="-90" dirty="0">
                <a:latin typeface="Tahoma"/>
                <a:cs typeface="Tahoma"/>
              </a:rPr>
              <a:t> </a:t>
            </a:r>
            <a:r>
              <a:rPr sz="1100" b="1" spc="-50" dirty="0">
                <a:latin typeface="Tahoma"/>
                <a:cs typeface="Tahoma"/>
              </a:rPr>
              <a:t>4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dirty="0">
                <a:latin typeface="Tahoma"/>
                <a:cs typeface="Tahoma"/>
              </a:rPr>
              <a:t>Actividades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críticas: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b="1" spc="-75" dirty="0">
                <a:latin typeface="Tahoma"/>
                <a:cs typeface="Tahoma"/>
              </a:rPr>
              <a:t>1, 2,</a:t>
            </a:r>
            <a:r>
              <a:rPr sz="1100" b="1" spc="-80" dirty="0">
                <a:latin typeface="Tahoma"/>
                <a:cs typeface="Tahoma"/>
              </a:rPr>
              <a:t> </a:t>
            </a:r>
            <a:r>
              <a:rPr sz="1100" b="1" spc="-50" dirty="0">
                <a:latin typeface="Tahoma"/>
                <a:cs typeface="Tahoma"/>
              </a:rPr>
              <a:t>4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80135" y="4678807"/>
            <a:ext cx="5614035" cy="4240530"/>
            <a:chOff x="1080135" y="4678807"/>
            <a:chExt cx="5614035" cy="42405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0135" y="4678807"/>
              <a:ext cx="4586732" cy="168148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2040" y="6393243"/>
              <a:ext cx="5612130" cy="252603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8120" y="877570"/>
            <a:ext cx="5061585" cy="311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50" dirty="0">
                <a:latin typeface="Tahoma"/>
                <a:cs typeface="Tahoma"/>
              </a:rPr>
              <a:t>Ejercicio</a:t>
            </a:r>
            <a:r>
              <a:rPr sz="1100" b="1" spc="-60" dirty="0">
                <a:latin typeface="Tahoma"/>
                <a:cs typeface="Tahoma"/>
              </a:rPr>
              <a:t> </a:t>
            </a:r>
            <a:r>
              <a:rPr sz="1100" b="1" spc="-120" dirty="0">
                <a:latin typeface="Tahoma"/>
                <a:cs typeface="Tahoma"/>
              </a:rPr>
              <a:t>2</a:t>
            </a:r>
            <a:r>
              <a:rPr sz="1100" b="1" spc="-70" dirty="0">
                <a:latin typeface="Tahoma"/>
                <a:cs typeface="Tahoma"/>
              </a:rPr>
              <a:t> </a:t>
            </a:r>
            <a:r>
              <a:rPr sz="1100" b="1" dirty="0">
                <a:latin typeface="Tahoma"/>
                <a:cs typeface="Tahoma"/>
              </a:rPr>
              <a:t>—</a:t>
            </a:r>
            <a:r>
              <a:rPr sz="1100" b="1" spc="-70" dirty="0">
                <a:latin typeface="Tahoma"/>
                <a:cs typeface="Tahoma"/>
              </a:rPr>
              <a:t> Proyecto</a:t>
            </a:r>
            <a:r>
              <a:rPr sz="1100" b="1" spc="-65" dirty="0">
                <a:latin typeface="Tahoma"/>
                <a:cs typeface="Tahoma"/>
              </a:rPr>
              <a:t> </a:t>
            </a:r>
            <a:r>
              <a:rPr sz="1100" b="1" spc="-55" dirty="0">
                <a:latin typeface="Tahoma"/>
                <a:cs typeface="Tahoma"/>
              </a:rPr>
              <a:t>de</a:t>
            </a:r>
            <a:r>
              <a:rPr sz="1100" b="1" spc="-65" dirty="0">
                <a:latin typeface="Tahoma"/>
                <a:cs typeface="Tahoma"/>
              </a:rPr>
              <a:t> </a:t>
            </a:r>
            <a:r>
              <a:rPr sz="1100" b="1" spc="-60" dirty="0">
                <a:latin typeface="Tahoma"/>
                <a:cs typeface="Tahoma"/>
              </a:rPr>
              <a:t>ensamblaje</a:t>
            </a:r>
            <a:r>
              <a:rPr sz="1100" b="1" spc="-75" dirty="0">
                <a:latin typeface="Tahoma"/>
                <a:cs typeface="Tahoma"/>
              </a:rPr>
              <a:t> </a:t>
            </a:r>
            <a:r>
              <a:rPr sz="1100" b="1" spc="-50" dirty="0">
                <a:latin typeface="Tahoma"/>
                <a:cs typeface="Tahoma"/>
              </a:rPr>
              <a:t>de</a:t>
            </a:r>
            <a:r>
              <a:rPr sz="1100" b="1" spc="-65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ahoma"/>
                <a:cs typeface="Tahoma"/>
              </a:rPr>
              <a:t>maquinaria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100" b="1" spc="-10" dirty="0">
                <a:latin typeface="Tahoma"/>
                <a:cs typeface="Tahoma"/>
              </a:rPr>
              <a:t>Enunciado: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9100"/>
              </a:lnSpc>
              <a:spcBef>
                <a:spcPts val="10"/>
              </a:spcBef>
            </a:pPr>
            <a:r>
              <a:rPr sz="1100" dirty="0">
                <a:latin typeface="Tahoma"/>
                <a:cs typeface="Tahoma"/>
              </a:rPr>
              <a:t>Se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planea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ensamblar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una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máquina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mediante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cinco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actividades.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Las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dependencias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y </a:t>
            </a:r>
            <a:r>
              <a:rPr sz="1100" dirty="0">
                <a:latin typeface="Tahoma"/>
                <a:cs typeface="Tahoma"/>
              </a:rPr>
              <a:t>duraciones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se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muestran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continuación:</a:t>
            </a:r>
            <a:endParaRPr sz="1100">
              <a:latin typeface="Tahoma"/>
              <a:cs typeface="Tahoma"/>
            </a:endParaRPr>
          </a:p>
          <a:p>
            <a:pPr marL="469265" indent="-228600">
              <a:lnSpc>
                <a:spcPct val="100000"/>
              </a:lnSpc>
              <a:spcBef>
                <a:spcPts val="93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spc="-10" dirty="0">
                <a:latin typeface="Tahoma"/>
                <a:cs typeface="Tahoma"/>
              </a:rPr>
              <a:t>Actividad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1: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Diseño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inicial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—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2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días.</a:t>
            </a:r>
            <a:endParaRPr sz="1100">
              <a:latin typeface="Tahoma"/>
              <a:cs typeface="Tahoma"/>
            </a:endParaRPr>
          </a:p>
          <a:p>
            <a:pPr marL="469265" indent="-228600">
              <a:lnSpc>
                <a:spcPct val="100000"/>
              </a:lnSpc>
              <a:spcBef>
                <a:spcPts val="92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spc="-10" dirty="0">
                <a:latin typeface="Tahoma"/>
                <a:cs typeface="Tahoma"/>
              </a:rPr>
              <a:t>Actividad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2: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Corte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piezas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—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3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días,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depende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1.</a:t>
            </a:r>
            <a:endParaRPr sz="1100">
              <a:latin typeface="Tahoma"/>
              <a:cs typeface="Tahoma"/>
            </a:endParaRPr>
          </a:p>
          <a:p>
            <a:pPr marL="469265" indent="-228600">
              <a:lnSpc>
                <a:spcPct val="100000"/>
              </a:lnSpc>
              <a:spcBef>
                <a:spcPts val="93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spc="-10" dirty="0">
                <a:latin typeface="Tahoma"/>
                <a:cs typeface="Tahoma"/>
              </a:rPr>
              <a:t>Actividad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3: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Fabricación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componentes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—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4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días,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depende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1.</a:t>
            </a:r>
            <a:endParaRPr sz="1100">
              <a:latin typeface="Tahoma"/>
              <a:cs typeface="Tahoma"/>
            </a:endParaRPr>
          </a:p>
          <a:p>
            <a:pPr marL="469265" indent="-228600">
              <a:lnSpc>
                <a:spcPct val="100000"/>
              </a:lnSpc>
              <a:spcBef>
                <a:spcPts val="92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spc="-10" dirty="0">
                <a:latin typeface="Tahoma"/>
                <a:cs typeface="Tahoma"/>
              </a:rPr>
              <a:t>Actividad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4: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Ensamble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parcial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—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2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días,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depende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2.</a:t>
            </a:r>
            <a:endParaRPr sz="1100">
              <a:latin typeface="Tahoma"/>
              <a:cs typeface="Tahoma"/>
            </a:endParaRPr>
          </a:p>
          <a:p>
            <a:pPr marL="469265" indent="-228600">
              <a:lnSpc>
                <a:spcPct val="100000"/>
              </a:lnSpc>
              <a:spcBef>
                <a:spcPts val="92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spc="-10" dirty="0">
                <a:latin typeface="Tahoma"/>
                <a:cs typeface="Tahoma"/>
              </a:rPr>
              <a:t>Actividad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5: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Ensamble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final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—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3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días,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depende</a:t>
            </a:r>
            <a:r>
              <a:rPr sz="1100" spc="-1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3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y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4.</a:t>
            </a:r>
            <a:endParaRPr sz="1100">
              <a:latin typeface="Tahoma"/>
              <a:cs typeface="Tahoma"/>
            </a:endParaRPr>
          </a:p>
          <a:p>
            <a:pPr marL="12700" marR="3585845">
              <a:lnSpc>
                <a:spcPct val="109500"/>
              </a:lnSpc>
              <a:spcBef>
                <a:spcPts val="815"/>
              </a:spcBef>
            </a:pPr>
            <a:r>
              <a:rPr sz="1100" b="1" spc="-55" dirty="0">
                <a:latin typeface="Tahoma"/>
                <a:cs typeface="Tahoma"/>
              </a:rPr>
              <a:t>Resultados</a:t>
            </a:r>
            <a:r>
              <a:rPr sz="1100" b="1" spc="-50" dirty="0">
                <a:latin typeface="Tahoma"/>
                <a:cs typeface="Tahoma"/>
              </a:rPr>
              <a:t> esperados: </a:t>
            </a:r>
            <a:r>
              <a:rPr sz="1100" spc="-10" dirty="0">
                <a:latin typeface="Tahoma"/>
                <a:cs typeface="Tahoma"/>
              </a:rPr>
              <a:t>Duración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total: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b="1" spc="-245" dirty="0">
                <a:latin typeface="Tahoma"/>
                <a:cs typeface="Tahoma"/>
              </a:rPr>
              <a:t>G</a:t>
            </a:r>
            <a:r>
              <a:rPr sz="1100" b="1" spc="-90" dirty="0">
                <a:latin typeface="Tahoma"/>
                <a:cs typeface="Tahoma"/>
              </a:rPr>
              <a:t> </a:t>
            </a:r>
            <a:r>
              <a:rPr sz="1100" b="1" spc="-20" dirty="0">
                <a:latin typeface="Tahoma"/>
                <a:cs typeface="Tahoma"/>
              </a:rPr>
              <a:t>días </a:t>
            </a:r>
            <a:r>
              <a:rPr sz="1100" spc="-20" dirty="0">
                <a:latin typeface="Tahoma"/>
                <a:cs typeface="Tahoma"/>
              </a:rPr>
              <a:t>Ruta</a:t>
            </a:r>
            <a:r>
              <a:rPr sz="1100" spc="-1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crítica:</a:t>
            </a:r>
            <a:r>
              <a:rPr sz="1100" spc="-110" dirty="0">
                <a:latin typeface="Tahoma"/>
                <a:cs typeface="Tahoma"/>
              </a:rPr>
              <a:t> </a:t>
            </a:r>
            <a:r>
              <a:rPr sz="1100" b="1" spc="-120" dirty="0">
                <a:latin typeface="Tahoma"/>
                <a:cs typeface="Tahoma"/>
              </a:rPr>
              <a:t>1</a:t>
            </a:r>
            <a:r>
              <a:rPr sz="1100" b="1" spc="-90" dirty="0">
                <a:latin typeface="Tahoma"/>
                <a:cs typeface="Tahoma"/>
              </a:rPr>
              <a:t> </a:t>
            </a:r>
            <a:r>
              <a:rPr sz="1100" b="1" spc="-440" dirty="0">
                <a:latin typeface="Tahoma"/>
                <a:cs typeface="Tahoma"/>
              </a:rPr>
              <a:t>→</a:t>
            </a:r>
            <a:r>
              <a:rPr sz="1100" b="1" spc="-100" dirty="0">
                <a:latin typeface="Tahoma"/>
                <a:cs typeface="Tahoma"/>
              </a:rPr>
              <a:t> </a:t>
            </a:r>
            <a:r>
              <a:rPr sz="1100" b="1" spc="-120" dirty="0">
                <a:latin typeface="Tahoma"/>
                <a:cs typeface="Tahoma"/>
              </a:rPr>
              <a:t>3</a:t>
            </a:r>
            <a:r>
              <a:rPr sz="1100" b="1" spc="-90" dirty="0">
                <a:latin typeface="Tahoma"/>
                <a:cs typeface="Tahoma"/>
              </a:rPr>
              <a:t> </a:t>
            </a:r>
            <a:r>
              <a:rPr sz="1100" b="1" spc="-440" dirty="0">
                <a:latin typeface="Tahoma"/>
                <a:cs typeface="Tahoma"/>
              </a:rPr>
              <a:t>→</a:t>
            </a:r>
            <a:r>
              <a:rPr sz="1100" b="1" spc="-90" dirty="0">
                <a:latin typeface="Tahoma"/>
                <a:cs typeface="Tahoma"/>
              </a:rPr>
              <a:t> </a:t>
            </a:r>
            <a:r>
              <a:rPr sz="1100" b="1" spc="-50" dirty="0">
                <a:latin typeface="Tahoma"/>
                <a:cs typeface="Tahoma"/>
              </a:rPr>
              <a:t>5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dirty="0">
                <a:latin typeface="Tahoma"/>
                <a:cs typeface="Tahoma"/>
              </a:rPr>
              <a:t>Actividades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críticas: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b="1" spc="-75" dirty="0">
                <a:latin typeface="Tahoma"/>
                <a:cs typeface="Tahoma"/>
              </a:rPr>
              <a:t>1, 3,</a:t>
            </a:r>
            <a:r>
              <a:rPr sz="1100" b="1" spc="-80" dirty="0">
                <a:latin typeface="Tahoma"/>
                <a:cs typeface="Tahoma"/>
              </a:rPr>
              <a:t> </a:t>
            </a:r>
            <a:r>
              <a:rPr sz="1100" b="1" spc="-50" dirty="0">
                <a:latin typeface="Tahoma"/>
                <a:cs typeface="Tahoma"/>
              </a:rPr>
              <a:t>5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0135" y="4114546"/>
            <a:ext cx="4930013" cy="195961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2039" y="6393243"/>
            <a:ext cx="5612130" cy="25298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8120" y="877570"/>
            <a:ext cx="5506085" cy="3647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50" dirty="0">
                <a:latin typeface="Tahoma"/>
                <a:cs typeface="Tahoma"/>
              </a:rPr>
              <a:t>Ejercicio</a:t>
            </a:r>
            <a:r>
              <a:rPr sz="1100" b="1" spc="-60" dirty="0">
                <a:latin typeface="Tahoma"/>
                <a:cs typeface="Tahoma"/>
              </a:rPr>
              <a:t> </a:t>
            </a:r>
            <a:r>
              <a:rPr sz="1100" b="1" spc="-120" dirty="0">
                <a:latin typeface="Tahoma"/>
                <a:cs typeface="Tahoma"/>
              </a:rPr>
              <a:t>3</a:t>
            </a:r>
            <a:r>
              <a:rPr sz="1100" b="1" spc="-70" dirty="0">
                <a:latin typeface="Tahoma"/>
                <a:cs typeface="Tahoma"/>
              </a:rPr>
              <a:t> </a:t>
            </a:r>
            <a:r>
              <a:rPr sz="1100" b="1" dirty="0">
                <a:latin typeface="Tahoma"/>
                <a:cs typeface="Tahoma"/>
              </a:rPr>
              <a:t>—</a:t>
            </a:r>
            <a:r>
              <a:rPr sz="1100" b="1" spc="-65" dirty="0">
                <a:latin typeface="Tahoma"/>
                <a:cs typeface="Tahoma"/>
              </a:rPr>
              <a:t> </a:t>
            </a:r>
            <a:r>
              <a:rPr sz="1100" b="1" spc="-70" dirty="0">
                <a:latin typeface="Tahoma"/>
                <a:cs typeface="Tahoma"/>
              </a:rPr>
              <a:t>Proyecto </a:t>
            </a:r>
            <a:r>
              <a:rPr sz="1100" b="1" spc="-55" dirty="0">
                <a:latin typeface="Tahoma"/>
                <a:cs typeface="Tahoma"/>
              </a:rPr>
              <a:t>de</a:t>
            </a:r>
            <a:r>
              <a:rPr sz="1100" b="1" spc="-60" dirty="0">
                <a:latin typeface="Tahoma"/>
                <a:cs typeface="Tahoma"/>
              </a:rPr>
              <a:t> </a:t>
            </a:r>
            <a:r>
              <a:rPr sz="1100" b="1" spc="-55" dirty="0">
                <a:latin typeface="Tahoma"/>
                <a:cs typeface="Tahoma"/>
              </a:rPr>
              <a:t>desarrollo</a:t>
            </a:r>
            <a:r>
              <a:rPr sz="1100" b="1" spc="-60" dirty="0">
                <a:latin typeface="Tahoma"/>
                <a:cs typeface="Tahoma"/>
              </a:rPr>
              <a:t> </a:t>
            </a:r>
            <a:r>
              <a:rPr sz="1100" b="1" spc="-50" dirty="0">
                <a:latin typeface="Tahoma"/>
                <a:cs typeface="Tahoma"/>
              </a:rPr>
              <a:t>de</a:t>
            </a:r>
            <a:r>
              <a:rPr sz="1100" b="1" spc="-75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ahoma"/>
                <a:cs typeface="Tahoma"/>
              </a:rPr>
              <a:t>software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100" b="1" spc="-10" dirty="0">
                <a:latin typeface="Tahoma"/>
                <a:cs typeface="Tahoma"/>
              </a:rPr>
              <a:t>Enunciado: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9100"/>
              </a:lnSpc>
              <a:spcBef>
                <a:spcPts val="10"/>
              </a:spcBef>
            </a:pPr>
            <a:r>
              <a:rPr sz="1100" dirty="0">
                <a:latin typeface="Tahoma"/>
                <a:cs typeface="Tahoma"/>
              </a:rPr>
              <a:t>Un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equipo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desarrollo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trabaja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en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un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programa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informático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compuesto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por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seis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tareas.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Las </a:t>
            </a:r>
            <a:r>
              <a:rPr sz="1100" dirty="0">
                <a:latin typeface="Tahoma"/>
                <a:cs typeface="Tahoma"/>
              </a:rPr>
              <a:t>relaciones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son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las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siguientes:</a:t>
            </a:r>
            <a:endParaRPr sz="1100">
              <a:latin typeface="Tahoma"/>
              <a:cs typeface="Tahoma"/>
            </a:endParaRPr>
          </a:p>
          <a:p>
            <a:pPr marL="469265" indent="-228600">
              <a:lnSpc>
                <a:spcPct val="100000"/>
              </a:lnSpc>
              <a:spcBef>
                <a:spcPts val="93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spc="-10" dirty="0">
                <a:latin typeface="Tahoma"/>
                <a:cs typeface="Tahoma"/>
              </a:rPr>
              <a:t>Actividad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1: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Análisis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requerimientos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—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1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día.</a:t>
            </a:r>
            <a:endParaRPr sz="1100">
              <a:latin typeface="Tahoma"/>
              <a:cs typeface="Tahoma"/>
            </a:endParaRPr>
          </a:p>
          <a:p>
            <a:pPr marL="469265" indent="-228600">
              <a:lnSpc>
                <a:spcPct val="100000"/>
              </a:lnSpc>
              <a:spcBef>
                <a:spcPts val="92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spc="-10" dirty="0">
                <a:latin typeface="Tahoma"/>
                <a:cs typeface="Tahoma"/>
              </a:rPr>
              <a:t>Actividad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2: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Diseño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base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datos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—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2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días,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depende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</a:t>
            </a:r>
            <a:r>
              <a:rPr sz="1100" spc="-1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1.</a:t>
            </a:r>
            <a:endParaRPr sz="1100">
              <a:latin typeface="Tahoma"/>
              <a:cs typeface="Tahoma"/>
            </a:endParaRPr>
          </a:p>
          <a:p>
            <a:pPr marL="469265" indent="-228600">
              <a:lnSpc>
                <a:spcPct val="100000"/>
              </a:lnSpc>
              <a:spcBef>
                <a:spcPts val="93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spc="-10" dirty="0">
                <a:latin typeface="Tahoma"/>
                <a:cs typeface="Tahoma"/>
              </a:rPr>
              <a:t>Actividad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3: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Diseño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interfaz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—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3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días,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depende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1.</a:t>
            </a:r>
            <a:endParaRPr sz="1100">
              <a:latin typeface="Tahoma"/>
              <a:cs typeface="Tahoma"/>
            </a:endParaRPr>
          </a:p>
          <a:p>
            <a:pPr marL="469265" indent="-228600">
              <a:lnSpc>
                <a:spcPct val="100000"/>
              </a:lnSpc>
              <a:spcBef>
                <a:spcPts val="92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spc="-10" dirty="0">
                <a:latin typeface="Tahoma"/>
                <a:cs typeface="Tahoma"/>
              </a:rPr>
              <a:t>Actividad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4: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Implementación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base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datos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—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2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días,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depende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2.</a:t>
            </a:r>
            <a:endParaRPr sz="1100">
              <a:latin typeface="Tahoma"/>
              <a:cs typeface="Tahoma"/>
            </a:endParaRPr>
          </a:p>
          <a:p>
            <a:pPr marL="469265" indent="-228600">
              <a:lnSpc>
                <a:spcPct val="100000"/>
              </a:lnSpc>
              <a:spcBef>
                <a:spcPts val="92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spc="-10" dirty="0">
                <a:latin typeface="Tahoma"/>
                <a:cs typeface="Tahoma"/>
              </a:rPr>
              <a:t>Actividad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5: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Programación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del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backend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—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4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días,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depende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2.</a:t>
            </a:r>
            <a:endParaRPr sz="1100">
              <a:latin typeface="Tahoma"/>
              <a:cs typeface="Tahoma"/>
            </a:endParaRPr>
          </a:p>
          <a:p>
            <a:pPr marL="469265" indent="-228600">
              <a:lnSpc>
                <a:spcPct val="100000"/>
              </a:lnSpc>
              <a:spcBef>
                <a:spcPts val="940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spc="-10" dirty="0">
                <a:latin typeface="Tahoma"/>
                <a:cs typeface="Tahoma"/>
              </a:rPr>
              <a:t>Actividad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6: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Integración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y</a:t>
            </a:r>
            <a:r>
              <a:rPr sz="1100" spc="-1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pruebas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—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3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días,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depende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3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y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5.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100">
              <a:latin typeface="Tahoma"/>
              <a:cs typeface="Tahoma"/>
            </a:endParaRPr>
          </a:p>
          <a:p>
            <a:pPr marL="12700" marR="4007485">
              <a:lnSpc>
                <a:spcPct val="109500"/>
              </a:lnSpc>
              <a:spcBef>
                <a:spcPts val="5"/>
              </a:spcBef>
            </a:pPr>
            <a:r>
              <a:rPr sz="1100" b="1" spc="-55" dirty="0">
                <a:latin typeface="Tahoma"/>
                <a:cs typeface="Tahoma"/>
              </a:rPr>
              <a:t>Resultados</a:t>
            </a:r>
            <a:r>
              <a:rPr sz="1100" b="1" spc="-50" dirty="0">
                <a:latin typeface="Tahoma"/>
                <a:cs typeface="Tahoma"/>
              </a:rPr>
              <a:t> </a:t>
            </a:r>
            <a:r>
              <a:rPr sz="1100" b="1" spc="-30" dirty="0">
                <a:latin typeface="Tahoma"/>
                <a:cs typeface="Tahoma"/>
              </a:rPr>
              <a:t>esperados: </a:t>
            </a:r>
            <a:r>
              <a:rPr sz="1100" spc="-10" dirty="0">
                <a:latin typeface="Tahoma"/>
                <a:cs typeface="Tahoma"/>
              </a:rPr>
              <a:t>Duración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total: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b="1" spc="-120" dirty="0">
                <a:latin typeface="Tahoma"/>
                <a:cs typeface="Tahoma"/>
              </a:rPr>
              <a:t>8</a:t>
            </a:r>
            <a:r>
              <a:rPr sz="1100" b="1" spc="-85" dirty="0">
                <a:latin typeface="Tahoma"/>
                <a:cs typeface="Tahoma"/>
              </a:rPr>
              <a:t> </a:t>
            </a:r>
            <a:r>
              <a:rPr sz="1100" b="1" spc="-20" dirty="0">
                <a:latin typeface="Tahoma"/>
                <a:cs typeface="Tahoma"/>
              </a:rPr>
              <a:t>días </a:t>
            </a:r>
            <a:r>
              <a:rPr sz="1100" spc="-20" dirty="0">
                <a:latin typeface="Tahoma"/>
                <a:cs typeface="Tahoma"/>
              </a:rPr>
              <a:t>Ruta</a:t>
            </a:r>
            <a:r>
              <a:rPr sz="1100" spc="-114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crítica:</a:t>
            </a:r>
            <a:r>
              <a:rPr sz="1100" spc="-110" dirty="0">
                <a:latin typeface="Tahoma"/>
                <a:cs typeface="Tahoma"/>
              </a:rPr>
              <a:t> </a:t>
            </a:r>
            <a:r>
              <a:rPr sz="1100" b="1" spc="-120" dirty="0">
                <a:latin typeface="Tahoma"/>
                <a:cs typeface="Tahoma"/>
              </a:rPr>
              <a:t>1</a:t>
            </a:r>
            <a:r>
              <a:rPr sz="1100" b="1" spc="-90" dirty="0">
                <a:latin typeface="Tahoma"/>
                <a:cs typeface="Tahoma"/>
              </a:rPr>
              <a:t> </a:t>
            </a:r>
            <a:r>
              <a:rPr sz="1100" b="1" spc="-440" dirty="0">
                <a:latin typeface="Tahoma"/>
                <a:cs typeface="Tahoma"/>
              </a:rPr>
              <a:t>→</a:t>
            </a:r>
            <a:r>
              <a:rPr sz="1100" b="1" spc="-100" dirty="0">
                <a:latin typeface="Tahoma"/>
                <a:cs typeface="Tahoma"/>
              </a:rPr>
              <a:t> </a:t>
            </a:r>
            <a:r>
              <a:rPr sz="1100" b="1" spc="-120" dirty="0">
                <a:latin typeface="Tahoma"/>
                <a:cs typeface="Tahoma"/>
              </a:rPr>
              <a:t>2</a:t>
            </a:r>
            <a:r>
              <a:rPr sz="1100" b="1" spc="-95" dirty="0">
                <a:latin typeface="Tahoma"/>
                <a:cs typeface="Tahoma"/>
              </a:rPr>
              <a:t> </a:t>
            </a:r>
            <a:r>
              <a:rPr sz="1100" b="1" spc="-440" dirty="0">
                <a:latin typeface="Tahoma"/>
                <a:cs typeface="Tahoma"/>
              </a:rPr>
              <a:t>→</a:t>
            </a:r>
            <a:r>
              <a:rPr sz="1100" b="1" spc="-90" dirty="0">
                <a:latin typeface="Tahoma"/>
                <a:cs typeface="Tahoma"/>
              </a:rPr>
              <a:t> </a:t>
            </a:r>
            <a:r>
              <a:rPr sz="1100" b="1" spc="-120" dirty="0">
                <a:latin typeface="Tahoma"/>
                <a:cs typeface="Tahoma"/>
              </a:rPr>
              <a:t>5</a:t>
            </a:r>
            <a:r>
              <a:rPr sz="1100" b="1" spc="-100" dirty="0">
                <a:latin typeface="Tahoma"/>
                <a:cs typeface="Tahoma"/>
              </a:rPr>
              <a:t> </a:t>
            </a:r>
            <a:r>
              <a:rPr sz="1100" b="1" spc="-440" dirty="0">
                <a:latin typeface="Tahoma"/>
                <a:cs typeface="Tahoma"/>
              </a:rPr>
              <a:t>→</a:t>
            </a:r>
            <a:r>
              <a:rPr sz="1100" b="1" spc="-90" dirty="0">
                <a:latin typeface="Tahoma"/>
                <a:cs typeface="Tahoma"/>
              </a:rPr>
              <a:t> </a:t>
            </a:r>
            <a:r>
              <a:rPr sz="1100" b="1" spc="-95" dirty="0">
                <a:latin typeface="Tahoma"/>
                <a:cs typeface="Tahoma"/>
              </a:rPr>
              <a:t>6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dirty="0">
                <a:latin typeface="Tahoma"/>
                <a:cs typeface="Tahoma"/>
              </a:rPr>
              <a:t>Actividades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críticas: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b="1" spc="-75" dirty="0">
                <a:latin typeface="Tahoma"/>
                <a:cs typeface="Tahoma"/>
              </a:rPr>
              <a:t>1, 2,</a:t>
            </a:r>
            <a:r>
              <a:rPr sz="1100" b="1" spc="-90" dirty="0">
                <a:latin typeface="Tahoma"/>
                <a:cs typeface="Tahoma"/>
              </a:rPr>
              <a:t> </a:t>
            </a:r>
            <a:r>
              <a:rPr sz="1100" b="1" spc="-75" dirty="0">
                <a:latin typeface="Tahoma"/>
                <a:cs typeface="Tahoma"/>
              </a:rPr>
              <a:t>5,</a:t>
            </a:r>
            <a:r>
              <a:rPr sz="1100" b="1" spc="-65" dirty="0">
                <a:latin typeface="Tahoma"/>
                <a:cs typeface="Tahoma"/>
              </a:rPr>
              <a:t> </a:t>
            </a:r>
            <a:r>
              <a:rPr sz="1100" b="1" spc="-50" dirty="0">
                <a:latin typeface="Tahoma"/>
                <a:cs typeface="Tahoma"/>
              </a:rPr>
              <a:t>6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0135" y="4640834"/>
            <a:ext cx="4624070" cy="20535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5360" y="6880923"/>
            <a:ext cx="5612129" cy="251650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8120" y="877570"/>
            <a:ext cx="5433060" cy="282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50" dirty="0">
                <a:latin typeface="Tahoma"/>
                <a:cs typeface="Tahoma"/>
              </a:rPr>
              <a:t>Ejercicio</a:t>
            </a:r>
            <a:r>
              <a:rPr sz="1100" b="1" spc="-60" dirty="0">
                <a:latin typeface="Tahoma"/>
                <a:cs typeface="Tahoma"/>
              </a:rPr>
              <a:t> </a:t>
            </a:r>
            <a:r>
              <a:rPr sz="1100" b="1" spc="-120" dirty="0">
                <a:latin typeface="Tahoma"/>
                <a:cs typeface="Tahoma"/>
              </a:rPr>
              <a:t>4</a:t>
            </a:r>
            <a:r>
              <a:rPr sz="1100" b="1" spc="-70" dirty="0">
                <a:latin typeface="Tahoma"/>
                <a:cs typeface="Tahoma"/>
              </a:rPr>
              <a:t> </a:t>
            </a:r>
            <a:r>
              <a:rPr sz="1100" b="1" dirty="0">
                <a:latin typeface="Tahoma"/>
                <a:cs typeface="Tahoma"/>
              </a:rPr>
              <a:t>—</a:t>
            </a:r>
            <a:r>
              <a:rPr sz="1100" b="1" spc="-65" dirty="0">
                <a:latin typeface="Tahoma"/>
                <a:cs typeface="Tahoma"/>
              </a:rPr>
              <a:t> </a:t>
            </a:r>
            <a:r>
              <a:rPr sz="1100" b="1" spc="-70" dirty="0">
                <a:latin typeface="Tahoma"/>
                <a:cs typeface="Tahoma"/>
              </a:rPr>
              <a:t>Proyecto </a:t>
            </a:r>
            <a:r>
              <a:rPr sz="1100" b="1" spc="-55" dirty="0">
                <a:latin typeface="Tahoma"/>
                <a:cs typeface="Tahoma"/>
              </a:rPr>
              <a:t>de</a:t>
            </a:r>
            <a:r>
              <a:rPr sz="1100" b="1" spc="-60" dirty="0">
                <a:latin typeface="Tahoma"/>
                <a:cs typeface="Tahoma"/>
              </a:rPr>
              <a:t> campaña</a:t>
            </a:r>
            <a:r>
              <a:rPr sz="1100" b="1" spc="-70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ahoma"/>
                <a:cs typeface="Tahoma"/>
              </a:rPr>
              <a:t>publicitaria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100" b="1" spc="-10" dirty="0">
                <a:latin typeface="Tahoma"/>
                <a:cs typeface="Tahoma"/>
              </a:rPr>
              <a:t>Enunciado:</a:t>
            </a:r>
            <a:endParaRPr sz="1100">
              <a:latin typeface="Tahoma"/>
              <a:cs typeface="Tahoma"/>
            </a:endParaRPr>
          </a:p>
          <a:p>
            <a:pPr marL="12700" marR="445770">
              <a:lnSpc>
                <a:spcPct val="109100"/>
              </a:lnSpc>
              <a:spcBef>
                <a:spcPts val="10"/>
              </a:spcBef>
            </a:pPr>
            <a:r>
              <a:rPr sz="1100" dirty="0">
                <a:latin typeface="Tahoma"/>
                <a:cs typeface="Tahoma"/>
              </a:rPr>
              <a:t>Una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agencia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marketing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planea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lanzar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una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campaña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publicitaria.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Las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actividades </a:t>
            </a:r>
            <a:r>
              <a:rPr sz="1100" dirty="0">
                <a:latin typeface="Tahoma"/>
                <a:cs typeface="Tahoma"/>
              </a:rPr>
              <a:t>necesarias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son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las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siguientes:</a:t>
            </a:r>
            <a:endParaRPr sz="1100">
              <a:latin typeface="Tahoma"/>
              <a:cs typeface="Tahoma"/>
            </a:endParaRPr>
          </a:p>
          <a:p>
            <a:pPr marL="469265" indent="-228600">
              <a:lnSpc>
                <a:spcPct val="100000"/>
              </a:lnSpc>
              <a:spcBef>
                <a:spcPts val="93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spc="-10" dirty="0">
                <a:latin typeface="Tahoma"/>
                <a:cs typeface="Tahoma"/>
              </a:rPr>
              <a:t>Actividad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1: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Investigación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mercado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—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2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días.</a:t>
            </a:r>
            <a:endParaRPr sz="1100">
              <a:latin typeface="Tahoma"/>
              <a:cs typeface="Tahoma"/>
            </a:endParaRPr>
          </a:p>
          <a:p>
            <a:pPr marL="469265" indent="-228600">
              <a:lnSpc>
                <a:spcPct val="100000"/>
              </a:lnSpc>
              <a:spcBef>
                <a:spcPts val="92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spc="-10" dirty="0">
                <a:latin typeface="Tahoma"/>
                <a:cs typeface="Tahoma"/>
              </a:rPr>
              <a:t>Actividad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2: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Creación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contenido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—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3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días,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depende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1.</a:t>
            </a:r>
            <a:endParaRPr sz="1100">
              <a:latin typeface="Tahoma"/>
              <a:cs typeface="Tahoma"/>
            </a:endParaRPr>
          </a:p>
          <a:p>
            <a:pPr marL="469265" indent="-228600">
              <a:lnSpc>
                <a:spcPct val="100000"/>
              </a:lnSpc>
              <a:spcBef>
                <a:spcPts val="93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spc="-10" dirty="0">
                <a:latin typeface="Tahoma"/>
                <a:cs typeface="Tahoma"/>
              </a:rPr>
              <a:t>Actividad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3: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Diseño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gráfico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—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1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día,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depende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</a:t>
            </a:r>
            <a:r>
              <a:rPr sz="1100" spc="-1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1.</a:t>
            </a:r>
            <a:endParaRPr sz="1100">
              <a:latin typeface="Tahoma"/>
              <a:cs typeface="Tahoma"/>
            </a:endParaRPr>
          </a:p>
          <a:p>
            <a:pPr marL="469265" indent="-228600">
              <a:lnSpc>
                <a:spcPct val="100000"/>
              </a:lnSpc>
              <a:spcBef>
                <a:spcPts val="92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spc="-10" dirty="0">
                <a:latin typeface="Tahoma"/>
                <a:cs typeface="Tahoma"/>
              </a:rPr>
              <a:t>Actividad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4: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Publicación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campaña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—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4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días,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depende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las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actividades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2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y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3.</a:t>
            </a:r>
            <a:endParaRPr sz="1100">
              <a:latin typeface="Tahoma"/>
              <a:cs typeface="Tahoma"/>
            </a:endParaRPr>
          </a:p>
          <a:p>
            <a:pPr marL="12700" marR="3957954">
              <a:lnSpc>
                <a:spcPct val="110100"/>
              </a:lnSpc>
              <a:spcBef>
                <a:spcPts val="790"/>
              </a:spcBef>
            </a:pPr>
            <a:r>
              <a:rPr sz="1100" b="1" spc="-55" dirty="0">
                <a:latin typeface="Tahoma"/>
                <a:cs typeface="Tahoma"/>
              </a:rPr>
              <a:t>Resultados</a:t>
            </a:r>
            <a:r>
              <a:rPr sz="1100" b="1" spc="-50" dirty="0">
                <a:latin typeface="Tahoma"/>
                <a:cs typeface="Tahoma"/>
              </a:rPr>
              <a:t> esperados: </a:t>
            </a:r>
            <a:r>
              <a:rPr sz="1100" spc="-10" dirty="0">
                <a:latin typeface="Tahoma"/>
                <a:cs typeface="Tahoma"/>
              </a:rPr>
              <a:t>Duración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total: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b="1" spc="-245" dirty="0">
                <a:latin typeface="Tahoma"/>
                <a:cs typeface="Tahoma"/>
              </a:rPr>
              <a:t>G</a:t>
            </a:r>
            <a:r>
              <a:rPr sz="1100" b="1" spc="-90" dirty="0">
                <a:latin typeface="Tahoma"/>
                <a:cs typeface="Tahoma"/>
              </a:rPr>
              <a:t> </a:t>
            </a:r>
            <a:r>
              <a:rPr sz="1100" b="1" spc="-20" dirty="0">
                <a:latin typeface="Tahoma"/>
                <a:cs typeface="Tahoma"/>
              </a:rPr>
              <a:t>días </a:t>
            </a:r>
            <a:r>
              <a:rPr sz="1100" spc="-20" dirty="0">
                <a:latin typeface="Tahoma"/>
                <a:cs typeface="Tahoma"/>
              </a:rPr>
              <a:t>Ruta</a:t>
            </a:r>
            <a:r>
              <a:rPr sz="1100" spc="-1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crítica:</a:t>
            </a:r>
            <a:r>
              <a:rPr sz="1100" spc="-110" dirty="0">
                <a:latin typeface="Tahoma"/>
                <a:cs typeface="Tahoma"/>
              </a:rPr>
              <a:t> </a:t>
            </a:r>
            <a:r>
              <a:rPr sz="1100" b="1" spc="-120" dirty="0">
                <a:latin typeface="Tahoma"/>
                <a:cs typeface="Tahoma"/>
              </a:rPr>
              <a:t>1</a:t>
            </a:r>
            <a:r>
              <a:rPr sz="1100" b="1" spc="-90" dirty="0">
                <a:latin typeface="Tahoma"/>
                <a:cs typeface="Tahoma"/>
              </a:rPr>
              <a:t> </a:t>
            </a:r>
            <a:r>
              <a:rPr sz="1100" b="1" spc="-440" dirty="0">
                <a:latin typeface="Tahoma"/>
                <a:cs typeface="Tahoma"/>
              </a:rPr>
              <a:t>→</a:t>
            </a:r>
            <a:r>
              <a:rPr sz="1100" b="1" spc="-100" dirty="0">
                <a:latin typeface="Tahoma"/>
                <a:cs typeface="Tahoma"/>
              </a:rPr>
              <a:t> </a:t>
            </a:r>
            <a:r>
              <a:rPr sz="1100" b="1" spc="-120" dirty="0">
                <a:latin typeface="Tahoma"/>
                <a:cs typeface="Tahoma"/>
              </a:rPr>
              <a:t>2</a:t>
            </a:r>
            <a:r>
              <a:rPr sz="1100" b="1" spc="-90" dirty="0">
                <a:latin typeface="Tahoma"/>
                <a:cs typeface="Tahoma"/>
              </a:rPr>
              <a:t> </a:t>
            </a:r>
            <a:r>
              <a:rPr sz="1100" b="1" spc="-440" dirty="0">
                <a:latin typeface="Tahoma"/>
                <a:cs typeface="Tahoma"/>
              </a:rPr>
              <a:t>→</a:t>
            </a:r>
            <a:r>
              <a:rPr sz="1100" b="1" spc="-90" dirty="0">
                <a:latin typeface="Tahoma"/>
                <a:cs typeface="Tahoma"/>
              </a:rPr>
              <a:t> </a:t>
            </a:r>
            <a:r>
              <a:rPr sz="1100" b="1" spc="-50" dirty="0">
                <a:latin typeface="Tahoma"/>
                <a:cs typeface="Tahoma"/>
              </a:rPr>
              <a:t>4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00" dirty="0">
                <a:latin typeface="Tahoma"/>
                <a:cs typeface="Tahoma"/>
              </a:rPr>
              <a:t>Actividades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críticas: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b="1" spc="-75" dirty="0">
                <a:latin typeface="Tahoma"/>
                <a:cs typeface="Tahoma"/>
              </a:rPr>
              <a:t>1, 2,</a:t>
            </a:r>
            <a:r>
              <a:rPr sz="1100" b="1" spc="-80" dirty="0">
                <a:latin typeface="Tahoma"/>
                <a:cs typeface="Tahoma"/>
              </a:rPr>
              <a:t> </a:t>
            </a:r>
            <a:r>
              <a:rPr sz="1100" b="1" spc="-50" dirty="0">
                <a:latin typeface="Tahoma"/>
                <a:cs typeface="Tahoma"/>
              </a:rPr>
              <a:t>4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2039" y="3817492"/>
            <a:ext cx="5612130" cy="199961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2039" y="6103746"/>
            <a:ext cx="5612130" cy="254317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8120" y="877570"/>
            <a:ext cx="5476875" cy="3324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50" dirty="0">
                <a:latin typeface="Tahoma"/>
                <a:cs typeface="Tahoma"/>
              </a:rPr>
              <a:t>Ejercicio</a:t>
            </a:r>
            <a:r>
              <a:rPr sz="1100" b="1" spc="-60" dirty="0">
                <a:latin typeface="Tahoma"/>
                <a:cs typeface="Tahoma"/>
              </a:rPr>
              <a:t> </a:t>
            </a:r>
            <a:r>
              <a:rPr sz="1100" b="1" spc="-120" dirty="0">
                <a:latin typeface="Tahoma"/>
                <a:cs typeface="Tahoma"/>
              </a:rPr>
              <a:t>5</a:t>
            </a:r>
            <a:r>
              <a:rPr sz="1100" b="1" spc="-70" dirty="0">
                <a:latin typeface="Tahoma"/>
                <a:cs typeface="Tahoma"/>
              </a:rPr>
              <a:t> </a:t>
            </a:r>
            <a:r>
              <a:rPr sz="1100" b="1" dirty="0">
                <a:latin typeface="Tahoma"/>
                <a:cs typeface="Tahoma"/>
              </a:rPr>
              <a:t>—</a:t>
            </a:r>
            <a:r>
              <a:rPr sz="1100" b="1" spc="-65" dirty="0">
                <a:latin typeface="Tahoma"/>
                <a:cs typeface="Tahoma"/>
              </a:rPr>
              <a:t> </a:t>
            </a:r>
            <a:r>
              <a:rPr sz="1100" b="1" spc="-70" dirty="0">
                <a:latin typeface="Tahoma"/>
                <a:cs typeface="Tahoma"/>
              </a:rPr>
              <a:t>Proyecto </a:t>
            </a:r>
            <a:r>
              <a:rPr sz="1100" b="1" spc="-55" dirty="0">
                <a:latin typeface="Tahoma"/>
                <a:cs typeface="Tahoma"/>
              </a:rPr>
              <a:t>de</a:t>
            </a:r>
            <a:r>
              <a:rPr sz="1100" b="1" spc="-60" dirty="0">
                <a:latin typeface="Tahoma"/>
                <a:cs typeface="Tahoma"/>
              </a:rPr>
              <a:t> </a:t>
            </a:r>
            <a:r>
              <a:rPr sz="1100" b="1" spc="-55" dirty="0">
                <a:latin typeface="Tahoma"/>
                <a:cs typeface="Tahoma"/>
              </a:rPr>
              <a:t>desarrollo</a:t>
            </a:r>
            <a:r>
              <a:rPr sz="1100" b="1" spc="-60" dirty="0">
                <a:latin typeface="Tahoma"/>
                <a:cs typeface="Tahoma"/>
              </a:rPr>
              <a:t> </a:t>
            </a:r>
            <a:r>
              <a:rPr sz="1100" b="1" spc="-50" dirty="0">
                <a:latin typeface="Tahoma"/>
                <a:cs typeface="Tahoma"/>
              </a:rPr>
              <a:t>de</a:t>
            </a:r>
            <a:r>
              <a:rPr sz="1100" b="1" spc="-75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ahoma"/>
                <a:cs typeface="Tahoma"/>
              </a:rPr>
              <a:t>producto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1100" b="1" spc="-10" dirty="0">
                <a:latin typeface="Tahoma"/>
                <a:cs typeface="Tahoma"/>
              </a:rPr>
              <a:t>Enunciado: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9100"/>
              </a:lnSpc>
              <a:spcBef>
                <a:spcPts val="10"/>
              </a:spcBef>
            </a:pPr>
            <a:r>
              <a:rPr sz="1100" dirty="0">
                <a:latin typeface="Tahoma"/>
                <a:cs typeface="Tahoma"/>
              </a:rPr>
              <a:t>Una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empresa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tecnológica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diseña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un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nuevo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dispositivo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electrónico.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Las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tareas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realizar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son </a:t>
            </a:r>
            <a:r>
              <a:rPr sz="1100" dirty="0">
                <a:latin typeface="Tahoma"/>
                <a:cs typeface="Tahoma"/>
              </a:rPr>
              <a:t>las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siguientes:</a:t>
            </a:r>
            <a:endParaRPr sz="1100">
              <a:latin typeface="Tahoma"/>
              <a:cs typeface="Tahoma"/>
            </a:endParaRPr>
          </a:p>
          <a:p>
            <a:pPr marL="469265" indent="-228600">
              <a:lnSpc>
                <a:spcPct val="100000"/>
              </a:lnSpc>
              <a:spcBef>
                <a:spcPts val="93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spc="-10" dirty="0">
                <a:latin typeface="Tahoma"/>
                <a:cs typeface="Tahoma"/>
              </a:rPr>
              <a:t>Actividad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1: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Investigación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y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planeación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—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3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días.</a:t>
            </a:r>
            <a:endParaRPr sz="1100">
              <a:latin typeface="Tahoma"/>
              <a:cs typeface="Tahoma"/>
            </a:endParaRPr>
          </a:p>
          <a:p>
            <a:pPr marL="469265" indent="-228600">
              <a:lnSpc>
                <a:spcPct val="100000"/>
              </a:lnSpc>
              <a:spcBef>
                <a:spcPts val="92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spc="-10" dirty="0">
                <a:latin typeface="Tahoma"/>
                <a:cs typeface="Tahoma"/>
              </a:rPr>
              <a:t>Actividad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2: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Diseño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del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prototipo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—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2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días,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depende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1.</a:t>
            </a:r>
            <a:endParaRPr sz="1100">
              <a:latin typeface="Tahoma"/>
              <a:cs typeface="Tahoma"/>
            </a:endParaRPr>
          </a:p>
          <a:p>
            <a:pPr marL="469265" indent="-228600">
              <a:lnSpc>
                <a:spcPct val="100000"/>
              </a:lnSpc>
              <a:spcBef>
                <a:spcPts val="93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spc="-10" dirty="0">
                <a:latin typeface="Tahoma"/>
                <a:cs typeface="Tahoma"/>
              </a:rPr>
              <a:t>Actividad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3: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Desarrollo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electrónico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—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4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días,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depende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1.</a:t>
            </a:r>
            <a:endParaRPr sz="1100">
              <a:latin typeface="Tahoma"/>
              <a:cs typeface="Tahoma"/>
            </a:endParaRPr>
          </a:p>
          <a:p>
            <a:pPr marL="469265" indent="-228600">
              <a:lnSpc>
                <a:spcPct val="100000"/>
              </a:lnSpc>
              <a:spcBef>
                <a:spcPts val="92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spc="-10" dirty="0">
                <a:latin typeface="Tahoma"/>
                <a:cs typeface="Tahoma"/>
              </a:rPr>
              <a:t>Actividad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4: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Ensamble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del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prototipo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—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2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días,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depende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2.</a:t>
            </a:r>
            <a:endParaRPr sz="1100">
              <a:latin typeface="Tahoma"/>
              <a:cs typeface="Tahoma"/>
            </a:endParaRPr>
          </a:p>
          <a:p>
            <a:pPr marL="469265" indent="-228600">
              <a:lnSpc>
                <a:spcPct val="100000"/>
              </a:lnSpc>
              <a:spcBef>
                <a:spcPts val="92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spc="-10" dirty="0">
                <a:latin typeface="Tahoma"/>
                <a:cs typeface="Tahoma"/>
              </a:rPr>
              <a:t>Actividad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5: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Pruebas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finales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—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3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días,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depende</a:t>
            </a:r>
            <a:r>
              <a:rPr sz="1100" spc="-1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las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actividades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3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y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4.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20"/>
              </a:spcBef>
            </a:pPr>
            <a:endParaRPr sz="1100">
              <a:latin typeface="Tahoma"/>
              <a:cs typeface="Tahoma"/>
            </a:endParaRPr>
          </a:p>
          <a:p>
            <a:pPr marL="12700" marR="4001770">
              <a:lnSpc>
                <a:spcPct val="110000"/>
              </a:lnSpc>
              <a:spcBef>
                <a:spcPts val="5"/>
              </a:spcBef>
            </a:pPr>
            <a:r>
              <a:rPr sz="1100" b="1" spc="-55" dirty="0">
                <a:latin typeface="Tahoma"/>
                <a:cs typeface="Tahoma"/>
              </a:rPr>
              <a:t>Resultados</a:t>
            </a:r>
            <a:r>
              <a:rPr sz="1100" b="1" spc="-50" dirty="0">
                <a:latin typeface="Tahoma"/>
                <a:cs typeface="Tahoma"/>
              </a:rPr>
              <a:t> esperados: </a:t>
            </a:r>
            <a:r>
              <a:rPr sz="1100" spc="-10" dirty="0">
                <a:latin typeface="Tahoma"/>
                <a:cs typeface="Tahoma"/>
              </a:rPr>
              <a:t>Duración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total: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b="1" spc="-120" dirty="0">
                <a:latin typeface="Tahoma"/>
                <a:cs typeface="Tahoma"/>
              </a:rPr>
              <a:t>10</a:t>
            </a:r>
            <a:r>
              <a:rPr sz="1100" b="1" spc="-95" dirty="0">
                <a:latin typeface="Tahoma"/>
                <a:cs typeface="Tahoma"/>
              </a:rPr>
              <a:t> </a:t>
            </a:r>
            <a:r>
              <a:rPr sz="1100" b="1" spc="-20" dirty="0">
                <a:latin typeface="Tahoma"/>
                <a:cs typeface="Tahoma"/>
              </a:rPr>
              <a:t>días </a:t>
            </a:r>
            <a:r>
              <a:rPr sz="1100" spc="-20" dirty="0">
                <a:latin typeface="Tahoma"/>
                <a:cs typeface="Tahoma"/>
              </a:rPr>
              <a:t>Ruta</a:t>
            </a:r>
            <a:r>
              <a:rPr sz="1100" spc="-1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crítica:</a:t>
            </a:r>
            <a:r>
              <a:rPr sz="1100" spc="-110" dirty="0">
                <a:latin typeface="Tahoma"/>
                <a:cs typeface="Tahoma"/>
              </a:rPr>
              <a:t> </a:t>
            </a:r>
            <a:r>
              <a:rPr sz="1100" b="1" spc="-120" dirty="0">
                <a:latin typeface="Tahoma"/>
                <a:cs typeface="Tahoma"/>
              </a:rPr>
              <a:t>1</a:t>
            </a:r>
            <a:r>
              <a:rPr sz="1100" b="1" spc="-90" dirty="0">
                <a:latin typeface="Tahoma"/>
                <a:cs typeface="Tahoma"/>
              </a:rPr>
              <a:t> </a:t>
            </a:r>
            <a:r>
              <a:rPr sz="1100" b="1" spc="-440" dirty="0">
                <a:latin typeface="Tahoma"/>
                <a:cs typeface="Tahoma"/>
              </a:rPr>
              <a:t>→</a:t>
            </a:r>
            <a:r>
              <a:rPr sz="1100" b="1" spc="-100" dirty="0">
                <a:latin typeface="Tahoma"/>
                <a:cs typeface="Tahoma"/>
              </a:rPr>
              <a:t> </a:t>
            </a:r>
            <a:r>
              <a:rPr sz="1100" b="1" spc="-120" dirty="0">
                <a:latin typeface="Tahoma"/>
                <a:cs typeface="Tahoma"/>
              </a:rPr>
              <a:t>3</a:t>
            </a:r>
            <a:r>
              <a:rPr sz="1100" b="1" spc="-90" dirty="0">
                <a:latin typeface="Tahoma"/>
                <a:cs typeface="Tahoma"/>
              </a:rPr>
              <a:t> </a:t>
            </a:r>
            <a:r>
              <a:rPr sz="1100" b="1" spc="-440" dirty="0">
                <a:latin typeface="Tahoma"/>
                <a:cs typeface="Tahoma"/>
              </a:rPr>
              <a:t>→</a:t>
            </a:r>
            <a:r>
              <a:rPr sz="1100" b="1" spc="-90" dirty="0">
                <a:latin typeface="Tahoma"/>
                <a:cs typeface="Tahoma"/>
              </a:rPr>
              <a:t> </a:t>
            </a:r>
            <a:r>
              <a:rPr sz="1100" b="1" spc="-50" dirty="0">
                <a:latin typeface="Tahoma"/>
                <a:cs typeface="Tahoma"/>
              </a:rPr>
              <a:t>5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dirty="0">
                <a:latin typeface="Tahoma"/>
                <a:cs typeface="Tahoma"/>
              </a:rPr>
              <a:t>Actividades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críticas: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b="1" spc="-75" dirty="0">
                <a:latin typeface="Tahoma"/>
                <a:cs typeface="Tahoma"/>
              </a:rPr>
              <a:t>1, 3,</a:t>
            </a:r>
            <a:r>
              <a:rPr sz="1100" b="1" spc="-80" dirty="0">
                <a:latin typeface="Tahoma"/>
                <a:cs typeface="Tahoma"/>
              </a:rPr>
              <a:t> </a:t>
            </a:r>
            <a:r>
              <a:rPr sz="1100" b="1" spc="-50" dirty="0">
                <a:latin typeface="Tahoma"/>
                <a:cs typeface="Tahoma"/>
              </a:rPr>
              <a:t>5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2039" y="4312665"/>
            <a:ext cx="5612130" cy="22701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0135" y="6774243"/>
            <a:ext cx="5612129" cy="26136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8120" y="877570"/>
            <a:ext cx="5504815" cy="3380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latin typeface="Tahoma"/>
                <a:cs typeface="Tahoma"/>
              </a:rPr>
              <a:t>Conclusión</a:t>
            </a:r>
            <a:endParaRPr sz="1100">
              <a:latin typeface="Tahoma"/>
              <a:cs typeface="Tahoma"/>
            </a:endParaRPr>
          </a:p>
          <a:p>
            <a:pPr marL="12700" marR="360045">
              <a:lnSpc>
                <a:spcPct val="109500"/>
              </a:lnSpc>
              <a:spcBef>
                <a:spcPts val="815"/>
              </a:spcBef>
            </a:pPr>
            <a:r>
              <a:rPr sz="1100" dirty="0">
                <a:latin typeface="Tahoma"/>
                <a:cs typeface="Tahoma"/>
              </a:rPr>
              <a:t>Los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ejercicios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realizados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demostraron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importancia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del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análisis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redes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como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una </a:t>
            </a:r>
            <a:r>
              <a:rPr sz="1100" spc="-10" dirty="0">
                <a:latin typeface="Tahoma"/>
                <a:cs typeface="Tahoma"/>
              </a:rPr>
              <a:t>herramienta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clave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para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b="1" spc="-75" dirty="0">
                <a:latin typeface="Tahoma"/>
                <a:cs typeface="Tahoma"/>
              </a:rPr>
              <a:t>toma </a:t>
            </a:r>
            <a:r>
              <a:rPr sz="1100" b="1" spc="-50" dirty="0">
                <a:latin typeface="Tahoma"/>
                <a:cs typeface="Tahoma"/>
              </a:rPr>
              <a:t>de</a:t>
            </a:r>
            <a:r>
              <a:rPr sz="1100" b="1" spc="-75" dirty="0">
                <a:latin typeface="Tahoma"/>
                <a:cs typeface="Tahoma"/>
              </a:rPr>
              <a:t> </a:t>
            </a:r>
            <a:r>
              <a:rPr sz="1100" b="1" spc="-40" dirty="0">
                <a:latin typeface="Tahoma"/>
                <a:cs typeface="Tahoma"/>
              </a:rPr>
              <a:t>decisiones</a:t>
            </a:r>
            <a:r>
              <a:rPr sz="1100" b="1" spc="-75" dirty="0">
                <a:latin typeface="Tahoma"/>
                <a:cs typeface="Tahoma"/>
              </a:rPr>
              <a:t> </a:t>
            </a:r>
            <a:r>
              <a:rPr sz="1100" b="1" spc="-50" dirty="0">
                <a:latin typeface="Tahoma"/>
                <a:cs typeface="Tahoma"/>
              </a:rPr>
              <a:t>eficientes</a:t>
            </a:r>
            <a:r>
              <a:rPr sz="1100" b="1" spc="-6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en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entornos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empresariales, </a:t>
            </a:r>
            <a:r>
              <a:rPr sz="1100" dirty="0">
                <a:latin typeface="Tahoma"/>
                <a:cs typeface="Tahoma"/>
              </a:rPr>
              <a:t>industriales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y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académicos.</a:t>
            </a:r>
            <a:endParaRPr sz="1100">
              <a:latin typeface="Tahoma"/>
              <a:cs typeface="Tahoma"/>
            </a:endParaRPr>
          </a:p>
          <a:p>
            <a:pPr marL="12700" marR="589280">
              <a:lnSpc>
                <a:spcPct val="110000"/>
              </a:lnSpc>
              <a:spcBef>
                <a:spcPts val="800"/>
              </a:spcBef>
            </a:pPr>
            <a:r>
              <a:rPr sz="1100" dirty="0">
                <a:latin typeface="Tahoma"/>
                <a:cs typeface="Tahoma"/>
              </a:rPr>
              <a:t>Se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comprobó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que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tanto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b="1" spc="-80" dirty="0">
                <a:latin typeface="Tahoma"/>
                <a:cs typeface="Tahoma"/>
              </a:rPr>
              <a:t>POM-</a:t>
            </a:r>
            <a:r>
              <a:rPr sz="1100" b="1" spc="-75" dirty="0">
                <a:latin typeface="Tahoma"/>
                <a:cs typeface="Tahoma"/>
              </a:rPr>
              <a:t>QM</a:t>
            </a:r>
            <a:r>
              <a:rPr sz="1100" b="1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como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b="1" spc="-75" dirty="0">
                <a:latin typeface="Tahoma"/>
                <a:cs typeface="Tahoma"/>
              </a:rPr>
              <a:t>RStudio</a:t>
            </a:r>
            <a:r>
              <a:rPr sz="1100" b="1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ofrecen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soluciones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coherentes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y </a:t>
            </a:r>
            <a:r>
              <a:rPr sz="1100" dirty="0">
                <a:latin typeface="Tahoma"/>
                <a:cs typeface="Tahoma"/>
              </a:rPr>
              <a:t>complementarias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para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los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diferentes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tipos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problemas:</a:t>
            </a:r>
            <a:endParaRPr sz="1100">
              <a:latin typeface="Tahoma"/>
              <a:cs typeface="Tahoma"/>
            </a:endParaRPr>
          </a:p>
          <a:p>
            <a:pPr marL="469265" marR="65405" indent="-228600">
              <a:lnSpc>
                <a:spcPct val="110000"/>
              </a:lnSpc>
              <a:spcBef>
                <a:spcPts val="79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spc="-10" dirty="0">
                <a:latin typeface="Tahoma"/>
                <a:cs typeface="Tahoma"/>
              </a:rPr>
              <a:t>En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b="1" spc="-60" dirty="0">
                <a:latin typeface="Tahoma"/>
                <a:cs typeface="Tahoma"/>
              </a:rPr>
              <a:t>asignación </a:t>
            </a:r>
            <a:r>
              <a:rPr sz="1100" spc="-55" dirty="0">
                <a:latin typeface="Tahoma"/>
                <a:cs typeface="Tahoma"/>
              </a:rPr>
              <a:t>y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b="1" spc="-65" dirty="0">
                <a:latin typeface="Tahoma"/>
                <a:cs typeface="Tahoma"/>
              </a:rPr>
              <a:t>transporte</a:t>
            </a:r>
            <a:r>
              <a:rPr sz="1100" spc="-65" dirty="0">
                <a:latin typeface="Tahoma"/>
                <a:cs typeface="Tahoma"/>
              </a:rPr>
              <a:t>,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se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logró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determinar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distribución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más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económica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de </a:t>
            </a:r>
            <a:r>
              <a:rPr sz="1100" spc="-10" dirty="0">
                <a:latin typeface="Tahoma"/>
                <a:cs typeface="Tahoma"/>
              </a:rPr>
              <a:t>recursos.</a:t>
            </a:r>
            <a:endParaRPr sz="1100">
              <a:latin typeface="Tahoma"/>
              <a:cs typeface="Tahoma"/>
            </a:endParaRPr>
          </a:p>
          <a:p>
            <a:pPr marL="469265" indent="-228600">
              <a:lnSpc>
                <a:spcPct val="100000"/>
              </a:lnSpc>
              <a:spcBef>
                <a:spcPts val="92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spc="-10" dirty="0">
                <a:latin typeface="Tahoma"/>
                <a:cs typeface="Tahoma"/>
              </a:rPr>
              <a:t>En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b="1" spc="-60" dirty="0">
                <a:latin typeface="Tahoma"/>
                <a:cs typeface="Tahoma"/>
              </a:rPr>
              <a:t>rutas</a:t>
            </a:r>
            <a:r>
              <a:rPr sz="1100" b="1" spc="-70" dirty="0">
                <a:latin typeface="Tahoma"/>
                <a:cs typeface="Tahoma"/>
              </a:rPr>
              <a:t> </a:t>
            </a:r>
            <a:r>
              <a:rPr sz="1100" b="1" spc="-50" dirty="0">
                <a:latin typeface="Tahoma"/>
                <a:cs typeface="Tahoma"/>
              </a:rPr>
              <a:t>más</a:t>
            </a:r>
            <a:r>
              <a:rPr sz="1100" b="1" spc="-60" dirty="0">
                <a:latin typeface="Tahoma"/>
                <a:cs typeface="Tahoma"/>
              </a:rPr>
              <a:t> </a:t>
            </a:r>
            <a:r>
              <a:rPr sz="1100" b="1" spc="-45" dirty="0">
                <a:latin typeface="Tahoma"/>
                <a:cs typeface="Tahoma"/>
              </a:rPr>
              <a:t>cortas</a:t>
            </a:r>
            <a:r>
              <a:rPr sz="1100" spc="-45" dirty="0">
                <a:latin typeface="Tahoma"/>
                <a:cs typeface="Tahoma"/>
              </a:rPr>
              <a:t>,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se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identificaron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los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trayectos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óptimos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entre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nodos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una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red.</a:t>
            </a:r>
            <a:endParaRPr sz="1100">
              <a:latin typeface="Tahoma"/>
              <a:cs typeface="Tahoma"/>
            </a:endParaRPr>
          </a:p>
          <a:p>
            <a:pPr marL="469265" marR="238760" indent="-228600">
              <a:lnSpc>
                <a:spcPct val="109100"/>
              </a:lnSpc>
              <a:spcBef>
                <a:spcPts val="81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spc="-10" dirty="0">
                <a:latin typeface="Tahoma"/>
                <a:cs typeface="Tahoma"/>
              </a:rPr>
              <a:t>En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b="1" spc="-100" dirty="0">
                <a:latin typeface="Tahoma"/>
                <a:cs typeface="Tahoma"/>
              </a:rPr>
              <a:t>PERT</a:t>
            </a:r>
            <a:r>
              <a:rPr sz="1100" b="1" spc="-65" dirty="0">
                <a:latin typeface="Tahoma"/>
                <a:cs typeface="Tahoma"/>
              </a:rPr>
              <a:t> </a:t>
            </a:r>
            <a:r>
              <a:rPr sz="1100" b="1" spc="-105" dirty="0">
                <a:latin typeface="Tahoma"/>
                <a:cs typeface="Tahoma"/>
              </a:rPr>
              <a:t>y</a:t>
            </a:r>
            <a:r>
              <a:rPr sz="1100" b="1" spc="-75" dirty="0">
                <a:latin typeface="Tahoma"/>
                <a:cs typeface="Tahoma"/>
              </a:rPr>
              <a:t> </a:t>
            </a:r>
            <a:r>
              <a:rPr sz="1100" b="1" spc="-40" dirty="0">
                <a:latin typeface="Tahoma"/>
                <a:cs typeface="Tahoma"/>
              </a:rPr>
              <a:t>CPM</a:t>
            </a:r>
            <a:r>
              <a:rPr sz="1100" spc="-40" dirty="0">
                <a:latin typeface="Tahoma"/>
                <a:cs typeface="Tahoma"/>
              </a:rPr>
              <a:t>,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se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comprendió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cómo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secuencia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actividades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y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los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tiempos </a:t>
            </a:r>
            <a:r>
              <a:rPr sz="1100" dirty="0">
                <a:latin typeface="Tahoma"/>
                <a:cs typeface="Tahoma"/>
              </a:rPr>
              <a:t>estimados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afectan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planificación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global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del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proyecto.</a:t>
            </a:r>
            <a:endParaRPr sz="1100">
              <a:latin typeface="Tahoma"/>
              <a:cs typeface="Tahoma"/>
            </a:endParaRPr>
          </a:p>
          <a:p>
            <a:pPr marL="12700" marR="37465">
              <a:lnSpc>
                <a:spcPct val="109700"/>
              </a:lnSpc>
              <a:spcBef>
                <a:spcPts val="810"/>
              </a:spcBef>
            </a:pPr>
            <a:r>
              <a:rPr sz="1100" dirty="0">
                <a:latin typeface="Tahoma"/>
                <a:cs typeface="Tahoma"/>
              </a:rPr>
              <a:t>Además,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reforzó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capacidad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analítica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interpretar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los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resultados,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comprendiendo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la </a:t>
            </a:r>
            <a:r>
              <a:rPr sz="1100" spc="-10" dirty="0">
                <a:latin typeface="Tahoma"/>
                <a:cs typeface="Tahoma"/>
              </a:rPr>
              <a:t>diferencia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entre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tiempos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deterministas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y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probabilísticos.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En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conjunto,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estas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herramientas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y </a:t>
            </a:r>
            <a:r>
              <a:rPr sz="1100" spc="-10" dirty="0">
                <a:latin typeface="Tahoma"/>
                <a:cs typeface="Tahoma"/>
              </a:rPr>
              <a:t>metodologías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permiten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optimizar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la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utilización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recursos,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reducir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costos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y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mejorar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la </a:t>
            </a:r>
            <a:r>
              <a:rPr sz="1100" spc="-10" dirty="0">
                <a:latin typeface="Tahoma"/>
                <a:cs typeface="Tahoma"/>
              </a:rPr>
              <a:t>gestión</a:t>
            </a:r>
            <a:r>
              <a:rPr sz="1100" spc="-114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del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tiempo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en</a:t>
            </a:r>
            <a:r>
              <a:rPr sz="1100" spc="-114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proyectos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reales.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8120" y="877570"/>
            <a:ext cx="5620385" cy="2829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60" dirty="0">
                <a:latin typeface="Tahoma"/>
                <a:cs typeface="Tahoma"/>
              </a:rPr>
              <a:t>Fuentes</a:t>
            </a:r>
            <a:r>
              <a:rPr sz="1100" b="1" spc="-85" dirty="0">
                <a:latin typeface="Tahoma"/>
                <a:cs typeface="Tahoma"/>
              </a:rPr>
              <a:t> </a:t>
            </a:r>
            <a:r>
              <a:rPr sz="1100" b="1" spc="-50" dirty="0">
                <a:latin typeface="Tahoma"/>
                <a:cs typeface="Tahoma"/>
              </a:rPr>
              <a:t>de</a:t>
            </a:r>
            <a:r>
              <a:rPr sz="1100" b="1" spc="-60" dirty="0">
                <a:latin typeface="Tahoma"/>
                <a:cs typeface="Tahoma"/>
              </a:rPr>
              <a:t> </a:t>
            </a:r>
            <a:r>
              <a:rPr sz="1100" b="1" spc="-10" dirty="0">
                <a:latin typeface="Tahoma"/>
                <a:cs typeface="Tahoma"/>
              </a:rPr>
              <a:t>Información</a:t>
            </a:r>
            <a:endParaRPr sz="1100">
              <a:latin typeface="Tahoma"/>
              <a:cs typeface="Tahoma"/>
            </a:endParaRPr>
          </a:p>
          <a:p>
            <a:pPr marL="469265" marR="5080" indent="-228600">
              <a:lnSpc>
                <a:spcPct val="110000"/>
              </a:lnSpc>
              <a:spcBef>
                <a:spcPts val="80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spc="-10" dirty="0">
                <a:latin typeface="Tahoma"/>
                <a:cs typeface="Tahoma"/>
              </a:rPr>
              <a:t>Hillier,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80" dirty="0">
                <a:latin typeface="Tahoma"/>
                <a:cs typeface="Tahoma"/>
              </a:rPr>
              <a:t>F.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S.,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Lieberman,</a:t>
            </a:r>
            <a:r>
              <a:rPr sz="1100" spc="-11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G.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85" dirty="0">
                <a:latin typeface="Tahoma"/>
                <a:cs typeface="Tahoma"/>
              </a:rPr>
              <a:t>J.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(2015).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Introducción</a:t>
            </a:r>
            <a:r>
              <a:rPr sz="1100" i="1" spc="-70" dirty="0">
                <a:latin typeface="Arial"/>
                <a:cs typeface="Arial"/>
              </a:rPr>
              <a:t> </a:t>
            </a:r>
            <a:r>
              <a:rPr sz="1100" i="1" spc="-40" dirty="0">
                <a:latin typeface="Arial"/>
                <a:cs typeface="Arial"/>
              </a:rPr>
              <a:t>a</a:t>
            </a:r>
            <a:r>
              <a:rPr sz="1100" i="1" spc="-5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la</a:t>
            </a:r>
            <a:r>
              <a:rPr sz="1100" i="1" spc="-55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Investigación</a:t>
            </a:r>
            <a:r>
              <a:rPr sz="1100" i="1" spc="-65" dirty="0">
                <a:latin typeface="Arial"/>
                <a:cs typeface="Arial"/>
              </a:rPr>
              <a:t> </a:t>
            </a:r>
            <a:r>
              <a:rPr sz="1100" i="1" spc="-20" dirty="0">
                <a:latin typeface="Arial"/>
                <a:cs typeface="Arial"/>
              </a:rPr>
              <a:t>de</a:t>
            </a:r>
            <a:r>
              <a:rPr sz="1100" i="1" spc="-6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Operaciones</a:t>
            </a:r>
            <a:r>
              <a:rPr sz="1100" spc="-10" dirty="0">
                <a:latin typeface="Tahoma"/>
                <a:cs typeface="Tahoma"/>
              </a:rPr>
              <a:t>. McGraw-</a:t>
            </a:r>
            <a:r>
              <a:rPr sz="1100" dirty="0">
                <a:latin typeface="Tahoma"/>
                <a:cs typeface="Tahoma"/>
              </a:rPr>
              <a:t>Hill</a:t>
            </a:r>
            <a:r>
              <a:rPr sz="1100" spc="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Education.</a:t>
            </a:r>
            <a:endParaRPr sz="1100">
              <a:latin typeface="Tahoma"/>
              <a:cs typeface="Tahoma"/>
            </a:endParaRPr>
          </a:p>
          <a:p>
            <a:pPr marL="469265" marR="574675" indent="-228600">
              <a:lnSpc>
                <a:spcPct val="110000"/>
              </a:lnSpc>
              <a:spcBef>
                <a:spcPts val="79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spc="-50" dirty="0">
                <a:latin typeface="Tahoma"/>
                <a:cs typeface="Tahoma"/>
              </a:rPr>
              <a:t>Taha,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H.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A.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(2017).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Investigación</a:t>
            </a:r>
            <a:r>
              <a:rPr sz="1100" i="1" spc="-60" dirty="0">
                <a:latin typeface="Arial"/>
                <a:cs typeface="Arial"/>
              </a:rPr>
              <a:t> </a:t>
            </a:r>
            <a:r>
              <a:rPr sz="1100" i="1" spc="-20" dirty="0">
                <a:latin typeface="Arial"/>
                <a:cs typeface="Arial"/>
              </a:rPr>
              <a:t>de</a:t>
            </a:r>
            <a:r>
              <a:rPr sz="1100" i="1" spc="-45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Operaciones:</a:t>
            </a:r>
            <a:r>
              <a:rPr sz="1100" i="1" spc="-50" dirty="0">
                <a:latin typeface="Arial"/>
                <a:cs typeface="Arial"/>
              </a:rPr>
              <a:t> </a:t>
            </a:r>
            <a:r>
              <a:rPr sz="1100" i="1" spc="-40" dirty="0">
                <a:latin typeface="Arial"/>
                <a:cs typeface="Arial"/>
              </a:rPr>
              <a:t>Una</a:t>
            </a:r>
            <a:r>
              <a:rPr sz="1100" i="1" spc="-5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Introducción</a:t>
            </a:r>
            <a:r>
              <a:rPr sz="1100" dirty="0">
                <a:latin typeface="Tahoma"/>
                <a:cs typeface="Tahoma"/>
              </a:rPr>
              <a:t>.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Pearson Educación.</a:t>
            </a:r>
            <a:endParaRPr sz="1100">
              <a:latin typeface="Tahoma"/>
              <a:cs typeface="Tahoma"/>
            </a:endParaRPr>
          </a:p>
          <a:p>
            <a:pPr marL="469265" marR="178435" indent="-228600">
              <a:lnSpc>
                <a:spcPct val="110000"/>
              </a:lnSpc>
              <a:spcBef>
                <a:spcPts val="790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spc="-10" dirty="0">
                <a:latin typeface="Tahoma"/>
                <a:cs typeface="Tahoma"/>
              </a:rPr>
              <a:t>Winston,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W.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L.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(2004).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Operations </a:t>
            </a:r>
            <a:r>
              <a:rPr sz="1100" i="1" spc="-35" dirty="0">
                <a:latin typeface="Arial"/>
                <a:cs typeface="Arial"/>
              </a:rPr>
              <a:t>Research:</a:t>
            </a:r>
            <a:r>
              <a:rPr sz="1100" i="1" spc="-4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Applications</a:t>
            </a:r>
            <a:r>
              <a:rPr sz="1100" i="1" spc="-40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and</a:t>
            </a:r>
            <a:r>
              <a:rPr sz="1100" i="1" spc="-40" dirty="0">
                <a:latin typeface="Arial"/>
                <a:cs typeface="Arial"/>
              </a:rPr>
              <a:t> </a:t>
            </a:r>
            <a:r>
              <a:rPr sz="1100" i="1" spc="-20" dirty="0">
                <a:latin typeface="Arial"/>
                <a:cs typeface="Arial"/>
              </a:rPr>
              <a:t>Algorithms</a:t>
            </a:r>
            <a:r>
              <a:rPr sz="1100" spc="-20" dirty="0">
                <a:latin typeface="Tahoma"/>
                <a:cs typeface="Tahoma"/>
              </a:rPr>
              <a:t>.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Cengage Learning.</a:t>
            </a:r>
            <a:endParaRPr sz="1100">
              <a:latin typeface="Tahoma"/>
              <a:cs typeface="Tahoma"/>
            </a:endParaRPr>
          </a:p>
          <a:p>
            <a:pPr marL="469265" marR="73660" indent="-228600">
              <a:lnSpc>
                <a:spcPct val="110000"/>
              </a:lnSpc>
              <a:spcBef>
                <a:spcPts val="79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spc="-35" dirty="0">
                <a:latin typeface="Tahoma"/>
                <a:cs typeface="Tahoma"/>
              </a:rPr>
              <a:t>Render,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B.,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Stair,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R.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M.,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Hanna,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M.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E.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(2018).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i="1" spc="-20" dirty="0">
                <a:latin typeface="Arial"/>
                <a:cs typeface="Arial"/>
              </a:rPr>
              <a:t>Ǫuantitative</a:t>
            </a:r>
            <a:r>
              <a:rPr sz="1100" i="1" spc="-50" dirty="0">
                <a:latin typeface="Arial"/>
                <a:cs typeface="Arial"/>
              </a:rPr>
              <a:t> </a:t>
            </a:r>
            <a:r>
              <a:rPr sz="1100" i="1" spc="-30" dirty="0">
                <a:latin typeface="Arial"/>
                <a:cs typeface="Arial"/>
              </a:rPr>
              <a:t>Analysis</a:t>
            </a:r>
            <a:r>
              <a:rPr sz="1100" i="1" spc="-40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for</a:t>
            </a:r>
            <a:r>
              <a:rPr sz="1100" i="1" spc="-4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Management</a:t>
            </a:r>
            <a:r>
              <a:rPr sz="1100" spc="-10" dirty="0">
                <a:latin typeface="Tahoma"/>
                <a:cs typeface="Tahoma"/>
              </a:rPr>
              <a:t>. Pearson.</a:t>
            </a:r>
            <a:endParaRPr sz="1100">
              <a:latin typeface="Tahoma"/>
              <a:cs typeface="Tahoma"/>
            </a:endParaRPr>
          </a:p>
          <a:p>
            <a:pPr marL="469265" marR="45085" indent="-228600">
              <a:lnSpc>
                <a:spcPct val="109100"/>
              </a:lnSpc>
              <a:spcBef>
                <a:spcPts val="81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dirty="0">
                <a:latin typeface="Tahoma"/>
                <a:cs typeface="Tahoma"/>
              </a:rPr>
              <a:t>Leachman,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R.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C.,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Arntzen,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B.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C.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(2018).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Modelos</a:t>
            </a:r>
            <a:r>
              <a:rPr sz="1100" i="1" spc="-55" dirty="0">
                <a:latin typeface="Arial"/>
                <a:cs typeface="Arial"/>
              </a:rPr>
              <a:t> </a:t>
            </a:r>
            <a:r>
              <a:rPr sz="1100" i="1" spc="-20" dirty="0">
                <a:latin typeface="Arial"/>
                <a:cs typeface="Arial"/>
              </a:rPr>
              <a:t>de</a:t>
            </a:r>
            <a:r>
              <a:rPr sz="1100" i="1" spc="-4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Optimización</a:t>
            </a:r>
            <a:r>
              <a:rPr sz="1100" i="1" spc="-45" dirty="0">
                <a:latin typeface="Arial"/>
                <a:cs typeface="Arial"/>
              </a:rPr>
              <a:t> </a:t>
            </a:r>
            <a:r>
              <a:rPr sz="1100" i="1" spc="-35" dirty="0">
                <a:latin typeface="Arial"/>
                <a:cs typeface="Arial"/>
              </a:rPr>
              <a:t>para</a:t>
            </a:r>
            <a:r>
              <a:rPr sz="1100" i="1" spc="-4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la</a:t>
            </a:r>
            <a:r>
              <a:rPr sz="1100" i="1" spc="-55" dirty="0">
                <a:latin typeface="Arial"/>
                <a:cs typeface="Arial"/>
              </a:rPr>
              <a:t> </a:t>
            </a:r>
            <a:r>
              <a:rPr sz="1100" i="1" spc="-30" dirty="0">
                <a:latin typeface="Arial"/>
                <a:cs typeface="Arial"/>
              </a:rPr>
              <a:t>Logística</a:t>
            </a:r>
            <a:r>
              <a:rPr sz="1100" i="1" spc="-45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y </a:t>
            </a:r>
            <a:r>
              <a:rPr sz="1100" i="1" dirty="0">
                <a:latin typeface="Arial"/>
                <a:cs typeface="Arial"/>
              </a:rPr>
              <a:t>la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Gestión</a:t>
            </a:r>
            <a:r>
              <a:rPr sz="1100" i="1" spc="-40" dirty="0">
                <a:latin typeface="Arial"/>
                <a:cs typeface="Arial"/>
              </a:rPr>
              <a:t> </a:t>
            </a:r>
            <a:r>
              <a:rPr sz="1100" i="1" spc="-20" dirty="0">
                <a:latin typeface="Arial"/>
                <a:cs typeface="Arial"/>
              </a:rPr>
              <a:t>de</a:t>
            </a:r>
            <a:r>
              <a:rPr sz="1100" i="1" spc="-25" dirty="0">
                <a:latin typeface="Arial"/>
                <a:cs typeface="Arial"/>
              </a:rPr>
              <a:t> </a:t>
            </a:r>
            <a:r>
              <a:rPr sz="1100" i="1" spc="-30" dirty="0">
                <a:latin typeface="Arial"/>
                <a:cs typeface="Arial"/>
              </a:rPr>
              <a:t>Proyectos</a:t>
            </a:r>
            <a:r>
              <a:rPr sz="1100" spc="-30" dirty="0">
                <a:latin typeface="Tahoma"/>
                <a:cs typeface="Tahoma"/>
              </a:rPr>
              <a:t>.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McGraw-</a:t>
            </a:r>
            <a:r>
              <a:rPr sz="1100" spc="-20" dirty="0">
                <a:latin typeface="Tahoma"/>
                <a:cs typeface="Tahoma"/>
              </a:rPr>
              <a:t>Hill.</a:t>
            </a:r>
            <a:endParaRPr sz="1100">
              <a:latin typeface="Tahoma"/>
              <a:cs typeface="Tahoma"/>
            </a:endParaRPr>
          </a:p>
          <a:p>
            <a:pPr marL="469265" indent="-228600">
              <a:lnSpc>
                <a:spcPct val="100000"/>
              </a:lnSpc>
              <a:spcBef>
                <a:spcPts val="93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spc="-25" dirty="0">
                <a:latin typeface="Tahoma"/>
                <a:cs typeface="Tahoma"/>
              </a:rPr>
              <a:t>Browne,</a:t>
            </a:r>
            <a:r>
              <a:rPr sz="1100" spc="-114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M.</a:t>
            </a:r>
            <a:r>
              <a:rPr sz="1100" spc="-1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W.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(2016).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i="1" spc="-70" dirty="0">
                <a:latin typeface="Arial"/>
                <a:cs typeface="Arial"/>
              </a:rPr>
              <a:t>Teoría</a:t>
            </a:r>
            <a:r>
              <a:rPr sz="1100" i="1" spc="-55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de</a:t>
            </a:r>
            <a:r>
              <a:rPr sz="1100" i="1" spc="-55" dirty="0">
                <a:latin typeface="Arial"/>
                <a:cs typeface="Arial"/>
              </a:rPr>
              <a:t> </a:t>
            </a:r>
            <a:r>
              <a:rPr sz="1100" i="1" spc="-35" dirty="0">
                <a:latin typeface="Arial"/>
                <a:cs typeface="Arial"/>
              </a:rPr>
              <a:t>Grafos</a:t>
            </a:r>
            <a:r>
              <a:rPr sz="1100" i="1" spc="-65" dirty="0">
                <a:latin typeface="Arial"/>
                <a:cs typeface="Arial"/>
              </a:rPr>
              <a:t> </a:t>
            </a:r>
            <a:r>
              <a:rPr sz="1100" i="1" spc="-55" dirty="0">
                <a:latin typeface="Arial"/>
                <a:cs typeface="Arial"/>
              </a:rPr>
              <a:t>y</a:t>
            </a:r>
            <a:r>
              <a:rPr sz="1100" i="1" spc="-65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Redes</a:t>
            </a:r>
            <a:r>
              <a:rPr sz="1100" i="1" spc="-65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de</a:t>
            </a:r>
            <a:r>
              <a:rPr sz="1100" i="1" spc="-65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Optimización</a:t>
            </a:r>
            <a:r>
              <a:rPr sz="1100" spc="-10" dirty="0">
                <a:latin typeface="Tahoma"/>
                <a:cs typeface="Tahoma"/>
              </a:rPr>
              <a:t>.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Prentice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Hall.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8120" y="859281"/>
            <a:ext cx="5521960" cy="427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1200" b="1" spc="-85" dirty="0">
                <a:latin typeface="Tahoma"/>
                <a:cs typeface="Tahoma"/>
              </a:rPr>
              <a:t>ANEXO</a:t>
            </a:r>
            <a:r>
              <a:rPr sz="1200" b="1" spc="-75" dirty="0">
                <a:latin typeface="Tahoma"/>
                <a:cs typeface="Tahoma"/>
              </a:rPr>
              <a:t> </a:t>
            </a:r>
            <a:r>
              <a:rPr sz="1200" b="1" spc="-60" dirty="0">
                <a:latin typeface="Tahoma"/>
                <a:cs typeface="Tahoma"/>
              </a:rPr>
              <a:t>ENLACE</a:t>
            </a:r>
            <a:r>
              <a:rPr sz="1200" b="1" spc="-75" dirty="0">
                <a:latin typeface="Tahoma"/>
                <a:cs typeface="Tahoma"/>
              </a:rPr>
              <a:t> </a:t>
            </a:r>
            <a:r>
              <a:rPr sz="1200" b="1" spc="-70" dirty="0">
                <a:latin typeface="Tahoma"/>
                <a:cs typeface="Tahoma"/>
              </a:rPr>
              <a:t>DE</a:t>
            </a:r>
            <a:r>
              <a:rPr sz="1200" b="1" spc="-80" dirty="0">
                <a:latin typeface="Tahoma"/>
                <a:cs typeface="Tahoma"/>
              </a:rPr>
              <a:t> </a:t>
            </a:r>
            <a:r>
              <a:rPr sz="1200" b="1" spc="-140" dirty="0">
                <a:latin typeface="Tahoma"/>
                <a:cs typeface="Tahoma"/>
              </a:rPr>
              <a:t>GIT</a:t>
            </a:r>
            <a:r>
              <a:rPr sz="1200" b="1" spc="-65" dirty="0">
                <a:latin typeface="Tahoma"/>
                <a:cs typeface="Tahoma"/>
              </a:rPr>
              <a:t> </a:t>
            </a:r>
            <a:r>
              <a:rPr sz="1200" b="1" spc="-70" dirty="0">
                <a:latin typeface="Tahoma"/>
                <a:cs typeface="Tahoma"/>
              </a:rPr>
              <a:t>HUB</a:t>
            </a:r>
            <a:r>
              <a:rPr sz="1200" b="1" spc="-75" dirty="0">
                <a:latin typeface="Tahoma"/>
                <a:cs typeface="Tahoma"/>
              </a:rPr>
              <a:t> DONDE</a:t>
            </a:r>
            <a:r>
              <a:rPr sz="1200" b="1" spc="-65" dirty="0">
                <a:latin typeface="Tahoma"/>
                <a:cs typeface="Tahoma"/>
              </a:rPr>
              <a:t> </a:t>
            </a:r>
            <a:r>
              <a:rPr sz="1200" b="1" spc="-55" dirty="0">
                <a:latin typeface="Tahoma"/>
                <a:cs typeface="Tahoma"/>
              </a:rPr>
              <a:t>SE</a:t>
            </a:r>
            <a:r>
              <a:rPr sz="1200" b="1" spc="-80" dirty="0">
                <a:latin typeface="Tahoma"/>
                <a:cs typeface="Tahoma"/>
              </a:rPr>
              <a:t> </a:t>
            </a:r>
            <a:r>
              <a:rPr sz="1200" b="1" spc="-75" dirty="0">
                <a:latin typeface="Tahoma"/>
                <a:cs typeface="Tahoma"/>
              </a:rPr>
              <a:t>ENCUENTRAN</a:t>
            </a:r>
            <a:r>
              <a:rPr sz="1200" b="1" spc="-80" dirty="0">
                <a:latin typeface="Tahoma"/>
                <a:cs typeface="Tahoma"/>
              </a:rPr>
              <a:t> </a:t>
            </a:r>
            <a:r>
              <a:rPr sz="1200" b="1" spc="-135" dirty="0">
                <a:latin typeface="Tahoma"/>
                <a:cs typeface="Tahoma"/>
              </a:rPr>
              <a:t>MIS</a:t>
            </a:r>
            <a:r>
              <a:rPr sz="1200" b="1" spc="-70" dirty="0">
                <a:latin typeface="Tahoma"/>
                <a:cs typeface="Tahoma"/>
              </a:rPr>
              <a:t> </a:t>
            </a:r>
            <a:r>
              <a:rPr sz="1200" b="1" spc="-95" dirty="0">
                <a:latin typeface="Tahoma"/>
                <a:cs typeface="Tahoma"/>
              </a:rPr>
              <a:t>EJERCICIOS</a:t>
            </a:r>
            <a:r>
              <a:rPr sz="1200" b="1" spc="-70" dirty="0">
                <a:latin typeface="Tahoma"/>
                <a:cs typeface="Tahoma"/>
              </a:rPr>
              <a:t> DE</a:t>
            </a:r>
            <a:r>
              <a:rPr sz="1200" b="1" spc="-80" dirty="0">
                <a:latin typeface="Tahoma"/>
                <a:cs typeface="Tahoma"/>
              </a:rPr>
              <a:t> </a:t>
            </a:r>
            <a:r>
              <a:rPr sz="1200" b="1" spc="-20" dirty="0">
                <a:latin typeface="Tahoma"/>
                <a:cs typeface="Tahoma"/>
              </a:rPr>
              <a:t>POM- </a:t>
            </a:r>
            <a:r>
              <a:rPr sz="1200" b="1" spc="-80" dirty="0">
                <a:latin typeface="Tahoma"/>
                <a:cs typeface="Tahoma"/>
              </a:rPr>
              <a:t>QM</a:t>
            </a:r>
            <a:r>
              <a:rPr sz="1200" b="1" spc="-95" dirty="0">
                <a:latin typeface="Tahoma"/>
                <a:cs typeface="Tahoma"/>
              </a:rPr>
              <a:t> </a:t>
            </a:r>
            <a:r>
              <a:rPr sz="1200" b="1" spc="-110" dirty="0">
                <a:latin typeface="Tahoma"/>
                <a:cs typeface="Tahoma"/>
              </a:rPr>
              <a:t>Y</a:t>
            </a:r>
            <a:r>
              <a:rPr sz="1200" b="1" spc="-85" dirty="0">
                <a:latin typeface="Tahoma"/>
                <a:cs typeface="Tahoma"/>
              </a:rPr>
              <a:t> </a:t>
            </a:r>
            <a:r>
              <a:rPr sz="1200" b="1" spc="-125" dirty="0">
                <a:latin typeface="Tahoma"/>
                <a:cs typeface="Tahoma"/>
              </a:rPr>
              <a:t>R-</a:t>
            </a:r>
            <a:r>
              <a:rPr sz="1200" b="1" spc="-10" dirty="0">
                <a:latin typeface="Tahoma"/>
                <a:cs typeface="Tahoma"/>
              </a:rPr>
              <a:t>STUDIO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0" dirty="0">
                <a:hlinkClick r:id="rId2"/>
              </a:rPr>
              <a:t>eduesc035/IO-</a:t>
            </a:r>
            <a:r>
              <a:rPr spc="-295" dirty="0">
                <a:hlinkClick r:id="rId2"/>
              </a:rPr>
              <a:t>TEMA-</a:t>
            </a:r>
            <a:r>
              <a:rPr spc="-420" dirty="0">
                <a:hlinkClick r:id="rId2"/>
              </a:rPr>
              <a:t>2</a:t>
            </a:r>
          </a:p>
        </p:txBody>
      </p:sp>
      <p:sp>
        <p:nvSpPr>
          <p:cNvPr id="4" name="object 4"/>
          <p:cNvSpPr/>
          <p:nvPr/>
        </p:nvSpPr>
        <p:spPr>
          <a:xfrm>
            <a:off x="1080820" y="2158238"/>
            <a:ext cx="4597400" cy="10795"/>
          </a:xfrm>
          <a:custGeom>
            <a:avLst/>
            <a:gdLst/>
            <a:ahLst/>
            <a:cxnLst/>
            <a:rect l="l" t="t" r="r" b="b"/>
            <a:pathLst>
              <a:path w="4597400" h="10794">
                <a:moveTo>
                  <a:pt x="4597019" y="0"/>
                </a:moveTo>
                <a:lnTo>
                  <a:pt x="0" y="0"/>
                </a:lnTo>
                <a:lnTo>
                  <a:pt x="0" y="10668"/>
                </a:lnTo>
                <a:lnTo>
                  <a:pt x="4597019" y="10668"/>
                </a:lnTo>
                <a:lnTo>
                  <a:pt x="4597019" y="0"/>
                </a:lnTo>
                <a:close/>
              </a:path>
            </a:pathLst>
          </a:custGeom>
          <a:solidFill>
            <a:srgbClr val="46788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67885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2223</Words>
  <Application>Microsoft Office PowerPoint</Application>
  <PresentationFormat>Personalizado</PresentationFormat>
  <Paragraphs>203</Paragraphs>
  <Slides>24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30" baseType="lpstr">
      <vt:lpstr>Arial</vt:lpstr>
      <vt:lpstr>Calibri</vt:lpstr>
      <vt:lpstr>Segoe UI Emoji</vt:lpstr>
      <vt:lpstr>Symbol</vt:lpstr>
      <vt:lpstr>Tahoma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eduesc035/IO-TEMA-2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Amilcar Corona</dc:creator>
  <cp:lastModifiedBy>jose eduardo escobar morales</cp:lastModifiedBy>
  <cp:revision>1</cp:revision>
  <dcterms:created xsi:type="dcterms:W3CDTF">2025-10-18T19:30:52Z</dcterms:created>
  <dcterms:modified xsi:type="dcterms:W3CDTF">2025-10-18T19:33:17Z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2025-10-18T00:00:00Z</vt:filetime>
  </property>
  <property fmtid="{D5CDD505-2E9C-101B-9397-08002B2CF9AE}" pid="3" name="Creator">
    <vt:lpwstr>Microsoft® Word para Microsoft 365</vt:lpwstr>
  </property>
  <property fmtid="{D5CDD505-2E9C-101B-9397-08002B2CF9AE}" pid="4" name="LastSaved">
    <vt:filetime>2025-10-18T00:00:00Z</vt:filetime>
  </property>
  <property fmtid="{D5CDD505-2E9C-101B-9397-08002B2CF9AE}" pid="5" name="Producer">
    <vt:lpwstr>Microsoft® Word para Microsoft 365</vt:lpwstr>
  </property>
</Properties>
</file>